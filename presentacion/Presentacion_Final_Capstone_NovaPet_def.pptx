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930" r:id="rId1"/>
  </p:sldMasterIdLst>
  <p:notesMasterIdLst>
    <p:notesMasterId r:id="rId14"/>
  </p:notesMasterIdLst>
  <p:sldIdLst>
    <p:sldId id="268" r:id="rId2"/>
    <p:sldId id="269" r:id="rId3"/>
    <p:sldId id="270" r:id="rId4"/>
    <p:sldId id="271" r:id="rId5"/>
    <p:sldId id="272" r:id="rId6"/>
    <p:sldId id="280" r:id="rId7"/>
    <p:sldId id="273" r:id="rId8"/>
    <p:sldId id="274" r:id="rId9"/>
    <p:sldId id="275" r:id="rId10"/>
    <p:sldId id="277" r:id="rId11"/>
    <p:sldId id="279" r:id="rId12"/>
    <p:sldId id="278" r:id="rId13"/>
  </p:sldIdLst>
  <p:sldSz cx="14630400" cy="8229600"/>
  <p:notesSz cx="8229600" cy="14630400"/>
  <p:embeddedFontLst>
    <p:embeddedFont>
      <p:font typeface="IBM Plex Sans Medium" panose="020B0603050203000203" pitchFamily="34" charset="0"/>
      <p:regular r:id="rId15"/>
      <p:italic r:id="rId16"/>
    </p:embeddedFont>
    <p:embeddedFont>
      <p:font typeface="Roboto" panose="02000000000000000000" pitchFamily="2" charset="0"/>
      <p:regular r:id="rId17"/>
      <p:bold r:id="rId18"/>
      <p:italic r:id="rId19"/>
      <p:boldItalic r:id="rId20"/>
    </p:embeddedFont>
    <p:embeddedFont>
      <p:font typeface="Trade Gothic Next Cond" panose="020B0506040303020004" pitchFamily="34" charset="0"/>
      <p:regular r:id="rId21"/>
      <p:bold r:id="rId22"/>
      <p:italic r:id="rId23"/>
      <p:boldItalic r:id="rId24"/>
    </p:embeddedFont>
    <p:embeddedFont>
      <p:font typeface="Trade Gothic Next Light" panose="020B0403040303020004" pitchFamily="34" charset="0"/>
      <p:regular r:id="rId25"/>
      <p:italic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2C31"/>
    <a:srgbClr val="FF9797"/>
    <a:srgbClr val="CC00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768" y="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DE353D-9636-4D4F-85B9-CE0BF84C35E9}" type="datetimeFigureOut">
              <a:t>10/5/2026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C1502F-3F04-408D-9DFF-BE4EB2134546}" type="slidenum"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105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0F8CF-692C-4963-8B5E-D1C0928CF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5534" y="1216781"/>
            <a:ext cx="9257266" cy="3912762"/>
          </a:xfrm>
        </p:spPr>
        <p:txBody>
          <a:bodyPr anchor="b"/>
          <a:lstStyle>
            <a:lvl1pPr algn="l">
              <a:defRPr sz="4978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19655-1613-4CC0-BBE9-BD2CB2C3C7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15534" y="5818157"/>
            <a:ext cx="9257266" cy="1303019"/>
          </a:xfrm>
        </p:spPr>
        <p:txBody>
          <a:bodyPr>
            <a:normAutofit/>
          </a:bodyPr>
          <a:lstStyle>
            <a:lvl1pPr marL="0" indent="0" algn="l">
              <a:buNone/>
              <a:defRPr sz="3200"/>
            </a:lvl1pPr>
            <a:lvl2pPr marL="812810" indent="0" algn="ctr">
              <a:buNone/>
              <a:defRPr sz="3200"/>
            </a:lvl2pPr>
            <a:lvl3pPr marL="1625620" indent="0" algn="ctr">
              <a:buNone/>
              <a:defRPr sz="3200"/>
            </a:lvl3pPr>
            <a:lvl4pPr marL="2438430" indent="0" algn="ctr">
              <a:buNone/>
              <a:defRPr sz="2844"/>
            </a:lvl4pPr>
            <a:lvl5pPr marL="3251241" indent="0" algn="ctr">
              <a:buNone/>
              <a:defRPr sz="2844"/>
            </a:lvl5pPr>
            <a:lvl6pPr marL="4064051" indent="0" algn="ctr">
              <a:buNone/>
              <a:defRPr sz="2844"/>
            </a:lvl6pPr>
            <a:lvl7pPr marL="4876861" indent="0" algn="ctr">
              <a:buNone/>
              <a:defRPr sz="2844"/>
            </a:lvl7pPr>
            <a:lvl8pPr marL="5689671" indent="0" algn="ctr">
              <a:buNone/>
              <a:defRPr sz="2844"/>
            </a:lvl8pPr>
            <a:lvl9pPr marL="6502481" indent="0" algn="ctr">
              <a:buNone/>
              <a:defRPr sz="2844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67FFF-6BC4-4DF0-BC55-B2C3BFD8E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70120-CDFC-48DE-A6EA-6DEEDD0E436A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89830-A1B7-484B-832C-F64A558BD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8F727-72C8-47A9-8E54-AD8459028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ED5540-64E5-4258-ABA4-753F07B71B38}"/>
              </a:ext>
            </a:extLst>
          </p:cNvPr>
          <p:cNvCxnSpPr>
            <a:cxnSpLocks/>
          </p:cNvCxnSpPr>
          <p:nvPr/>
        </p:nvCxnSpPr>
        <p:spPr>
          <a:xfrm>
            <a:off x="1828801" y="5485807"/>
            <a:ext cx="1165386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4207982"/>
      </p:ext>
    </p:extLst>
  </p:cSld>
  <p:clrMapOvr>
    <a:masterClrMapping/>
  </p:clrMapOvr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F94C-BCB1-4F4C-AF70-DD2A5C4E3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5479" y="1254535"/>
            <a:ext cx="11086121" cy="1029071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09B75-A057-44B5-872F-DF01BDC8E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5479" y="2743200"/>
            <a:ext cx="11086121" cy="457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6260C-3219-4812-88F2-3162D37F2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9FAAF-C467-4C93-8ECD-39AF5A14D498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62B73-9C01-4BE3-A199-782BE6EBA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61492-EB56-4454-9D2A-8BB94AACB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958978"/>
      </p:ext>
    </p:extLst>
  </p:cSld>
  <p:clrMapOvr>
    <a:masterClrMapping/>
  </p:clrMapOvr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980A128-A52A-402C-865B-1BF08D7F0458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00447-3778-4AB7-ACB3-7C2313FE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6094" y="1545065"/>
            <a:ext cx="9941956" cy="3735677"/>
          </a:xfrm>
        </p:spPr>
        <p:txBody>
          <a:bodyPr anchor="t"/>
          <a:lstStyle>
            <a:lvl1pPr>
              <a:defRPr sz="7822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910C9-BA3C-4D31-9C62-2C2408591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06093" y="5543649"/>
            <a:ext cx="9266707" cy="1771552"/>
          </a:xfrm>
        </p:spPr>
        <p:txBody>
          <a:bodyPr anchor="b">
            <a:normAutofit/>
          </a:bodyPr>
          <a:lstStyle>
            <a:lvl1pPr marL="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81281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42E8A-6B69-406B-A3DF-0A1B76832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7E480-B2BA-4553-A144-61E7F75833ED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665CF-4461-4BB8-8F3A-ED1CB1084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98B27-5EF3-49F4-B3CE-F3CF419A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7414362"/>
      </p:ext>
    </p:extLst>
  </p:cSld>
  <p:clrMapOvr>
    <a:masterClrMapping/>
  </p:clrMapOvr>
  <p:hf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3F3BA-5AD5-4F15-97B2-E4652D1D4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5479" y="1216093"/>
            <a:ext cx="11086121" cy="106751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997B8-1FD3-40E6-A486-256EB41DB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15479" y="2562679"/>
            <a:ext cx="5394960" cy="475252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3F4D8-AA9A-4AF7-86EA-E4D797B98C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562679"/>
            <a:ext cx="5394960" cy="475252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8823E-BC08-4810-9BFF-35D2EA2AE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E682A-6B53-4B08-AE4D-4C5E659103CC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D2BFB-BB2C-4C4A-A6E1-DD223C2BE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369B2-12F8-4583-8A7F-523C9A3EF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4058846"/>
      </p:ext>
    </p:extLst>
  </p:cSld>
  <p:clrMapOvr>
    <a:masterClrMapping/>
  </p:clrMapOvr>
  <p:hf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C717F-84B9-44BA-8DD6-680394AB1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5479" y="1294980"/>
            <a:ext cx="11086121" cy="98869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217D6-7448-4625-964F-5D82F65F1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15481" y="2415861"/>
            <a:ext cx="5394959" cy="84507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3200" b="0" cap="all" spc="533" baseline="0">
                <a:solidFill>
                  <a:schemeClr val="tx1"/>
                </a:solidFill>
                <a:latin typeface="+mj-lt"/>
              </a:defRPr>
            </a:lvl1pPr>
            <a:lvl2pPr marL="812810" indent="0">
              <a:buNone/>
              <a:defRPr sz="3200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3A534C-0B54-4327-99C0-4F0019FD2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15480" y="3657600"/>
            <a:ext cx="5394960" cy="3657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9D4A63-0795-4B74-8C11-5FE7944118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415858"/>
            <a:ext cx="5394960" cy="84508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3200" b="0" cap="all" spc="533" baseline="0">
                <a:solidFill>
                  <a:schemeClr val="tx1"/>
                </a:solidFill>
                <a:latin typeface="+mj-lt"/>
              </a:defRPr>
            </a:lvl1pPr>
            <a:lvl2pPr marL="812810" indent="0">
              <a:buNone/>
              <a:defRPr sz="3200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3D16F3-F747-441B-9854-27225954DE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657600"/>
            <a:ext cx="5394960" cy="3657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8168E2-6B97-486E-B0E4-4E7F5CDBB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9F0F6-BEBB-4894-ABB2-75C5CBE0DDB9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5D3E2B-2F4E-4347-A8E9-27EB7D035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1FC4F5-6876-414E-9E30-84706A3F5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70D2F04-5474-46B9-B838-858CDF4AB2D2}"/>
              </a:ext>
            </a:extLst>
          </p:cNvPr>
          <p:cNvCxnSpPr>
            <a:cxnSpLocks/>
          </p:cNvCxnSpPr>
          <p:nvPr/>
        </p:nvCxnSpPr>
        <p:spPr>
          <a:xfrm>
            <a:off x="7524873" y="3451994"/>
            <a:ext cx="1165386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ADEE893-BE45-47F3-BCF0-02424B3503CC}"/>
              </a:ext>
            </a:extLst>
          </p:cNvPr>
          <p:cNvSpPr/>
          <p:nvPr/>
        </p:nvSpPr>
        <p:spPr>
          <a:xfrm>
            <a:off x="-1406205" y="5510888"/>
            <a:ext cx="969914" cy="4676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B5178A-4501-4B56-8BF1-D083D7B021CE}"/>
              </a:ext>
            </a:extLst>
          </p:cNvPr>
          <p:cNvCxnSpPr>
            <a:cxnSpLocks/>
          </p:cNvCxnSpPr>
          <p:nvPr/>
        </p:nvCxnSpPr>
        <p:spPr>
          <a:xfrm>
            <a:off x="1828801" y="3451994"/>
            <a:ext cx="1165386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2693429"/>
      </p:ext>
    </p:extLst>
  </p:cSld>
  <p:clrMapOvr>
    <a:masterClrMapping/>
  </p:clrMapOvr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2109C6-041C-42BA-B507-8EA298046EDD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C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7BF877-20DD-40F4-AEA8-E1B6D5350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7DC874-15B5-4338-B7D1-8E393AB4C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E9E5F-17D9-4A30-9DA3-64E46A6DF111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66BAE3-24C5-483F-9141-D860A265E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9AEEB4-66F8-4008-B616-804FB9D91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8916534"/>
      </p:ext>
    </p:extLst>
  </p:cSld>
  <p:clrMapOvr>
    <a:masterClrMapping/>
  </p:clrMapOvr>
  <p:hf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46C975-8FFB-4A4B-9213-774EE3901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AC5F0-3BC3-4718-BCCA-24B5655EC864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BA744F-475D-4105-8E4A-02581554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FA64C-7966-4D6F-88D7-4B89F2A1D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0370123"/>
      </p:ext>
    </p:extLst>
  </p:cSld>
  <p:clrMapOvr>
    <a:masterClrMapping/>
  </p:clrMapOvr>
  <p:hf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4ED5F-AB94-4DCF-8971-B8B2B55AF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2488" y="1870733"/>
            <a:ext cx="3935627" cy="2237035"/>
          </a:xfrm>
        </p:spPr>
        <p:txBody>
          <a:bodyPr anchor="b"/>
          <a:lstStyle>
            <a:lvl1pPr algn="r">
              <a:defRPr sz="4978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EE4CB-68CF-4BF3-A891-8277AFD13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1" y="914400"/>
            <a:ext cx="6400799" cy="6400800"/>
          </a:xfrm>
        </p:spPr>
        <p:txBody>
          <a:bodyPr anchor="ctr">
            <a:normAutofit/>
          </a:bodyPr>
          <a:lstStyle>
            <a:lvl1pPr>
              <a:defRPr sz="4978">
                <a:solidFill>
                  <a:schemeClr val="tx1"/>
                </a:solidFill>
              </a:defRPr>
            </a:lvl1pPr>
            <a:lvl2pPr>
              <a:defRPr sz="4267">
                <a:solidFill>
                  <a:schemeClr val="tx1"/>
                </a:solidFill>
              </a:defRPr>
            </a:lvl2pPr>
            <a:lvl3pPr>
              <a:defRPr sz="3556">
                <a:solidFill>
                  <a:schemeClr val="tx1"/>
                </a:solidFill>
              </a:defRPr>
            </a:lvl3pPr>
            <a:lvl4pPr>
              <a:defRPr sz="3200">
                <a:solidFill>
                  <a:schemeClr val="tx1"/>
                </a:solidFill>
              </a:defRPr>
            </a:lvl4pPr>
            <a:lvl5pPr>
              <a:defRPr sz="3200">
                <a:solidFill>
                  <a:schemeClr val="tx1"/>
                </a:solidFill>
              </a:defRPr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292E72-B66D-40EE-B182-5585382A6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32489" y="4379619"/>
            <a:ext cx="3879715" cy="2320326"/>
          </a:xfrm>
        </p:spPr>
        <p:txBody>
          <a:bodyPr/>
          <a:lstStyle>
            <a:lvl1pPr marL="0" indent="0" algn="r">
              <a:buNone/>
              <a:defRPr sz="2844">
                <a:solidFill>
                  <a:schemeClr val="tx1"/>
                </a:solidFill>
              </a:defRPr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3B694-B050-45F3-AE6F-A86A129F1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D81-465B-40F2-9A54-9DF3B12AF598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AE423-9CA5-46B3-96B1-7586AD020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B973D-F1F7-47BC-996D-6100B7C89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7165039"/>
      </p:ext>
    </p:extLst>
  </p:cSld>
  <p:clrMapOvr>
    <a:masterClrMapping/>
  </p:clrMapOvr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E9949-4A1F-4DA9-9B75-A6180F954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0252" y="1659751"/>
            <a:ext cx="3947863" cy="2455049"/>
          </a:xfrm>
        </p:spPr>
        <p:txBody>
          <a:bodyPr anchor="b"/>
          <a:lstStyle>
            <a:lvl1pPr algn="r">
              <a:defRPr sz="4978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A8D794-C670-4569-93D9-0FF8B35AA7A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6400802" y="914400"/>
            <a:ext cx="6400799" cy="6400800"/>
          </a:xfrm>
        </p:spPr>
        <p:txBody>
          <a:bodyPr anchor="t"/>
          <a:lstStyle>
            <a:lvl1pPr marL="0" indent="0">
              <a:buNone/>
              <a:defRPr sz="5689">
                <a:solidFill>
                  <a:schemeClr val="tx1"/>
                </a:solidFill>
              </a:defRPr>
            </a:lvl1pPr>
            <a:lvl2pPr marL="812810" indent="0">
              <a:buNone/>
              <a:defRPr sz="4978"/>
            </a:lvl2pPr>
            <a:lvl3pPr marL="1625620" indent="0">
              <a:buNone/>
              <a:defRPr sz="4267"/>
            </a:lvl3pPr>
            <a:lvl4pPr marL="2438430" indent="0">
              <a:buNone/>
              <a:defRPr sz="3556"/>
            </a:lvl4pPr>
            <a:lvl5pPr marL="3251241" indent="0">
              <a:buNone/>
              <a:defRPr sz="3556"/>
            </a:lvl5pPr>
            <a:lvl6pPr marL="4064051" indent="0">
              <a:buNone/>
              <a:defRPr sz="3556"/>
            </a:lvl6pPr>
            <a:lvl7pPr marL="4876861" indent="0">
              <a:buNone/>
              <a:defRPr sz="3556"/>
            </a:lvl7pPr>
            <a:lvl8pPr marL="5689671" indent="0">
              <a:buNone/>
              <a:defRPr sz="3556"/>
            </a:lvl8pPr>
            <a:lvl9pPr marL="6502481" indent="0">
              <a:buNone/>
              <a:defRPr sz="3556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2486F6-AE67-4B34-B8E2-0B7576DC2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20253" y="4379619"/>
            <a:ext cx="3891950" cy="2021180"/>
          </a:xfrm>
        </p:spPr>
        <p:txBody>
          <a:bodyPr/>
          <a:lstStyle>
            <a:lvl1pPr marL="0" indent="0" algn="r">
              <a:buNone/>
              <a:defRPr sz="2844">
                <a:solidFill>
                  <a:schemeClr val="tx1"/>
                </a:solidFill>
              </a:defRPr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8B11C-BB63-49A6-B488-29D4FBF8E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B3CEF-64EF-4C43-9530-8E9CBFD2CAD1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4B9166-6D36-4F0A-9ADD-33D49A0C3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B22B8F-7760-41B3-9053-DD90255B9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904288"/>
      </p:ext>
    </p:extLst>
  </p:cSld>
  <p:clrMapOvr>
    <a:masterClrMapping/>
  </p:clrMapOvr>
  <p:hf sldNum="0"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8A5DE-E5C6-4DB9-AD28-8F1EAC6F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63E08E-9B2D-4740-9AC6-D5E1CFB95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715479" y="2675949"/>
            <a:ext cx="11086121" cy="4639252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E3736-E8AA-4F58-9D3A-27050B287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F5BA7-0A17-4D30-9B66-E29324151C73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95E84-15BC-478B-9DAB-15025867B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9D98F-E0A8-4254-A957-7F17811D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371319"/>
      </p:ext>
    </p:extLst>
  </p:cSld>
  <p:clrMapOvr>
    <a:masterClrMapping/>
  </p:clrMapOvr>
  <p:hf sldNum="0"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DE70F5-2276-4F91-9FC2-8DA4B52881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972801" y="1761240"/>
            <a:ext cx="2110153" cy="555396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1856C5-C2FD-45E4-A631-AC06B5495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18775" y="1761240"/>
            <a:ext cx="9407255" cy="555396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336EA-B6DD-4115-9C67-79A24C866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EBB1B-D40A-4DB9-B3DE-BAAE675B83CD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A668B-1DAB-449C-9BA4-7B1572A22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6567E-119D-4C98-93FF-73A332803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5635060"/>
      </p:ext>
    </p:extLst>
  </p:cSld>
  <p:clrMapOvr>
    <a:masterClrMapping/>
  </p:clrMapOvr>
  <p:hf sldNum="0"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84152A-7FE0-4708-B7C1-DBEC8F133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5479" y="1249946"/>
            <a:ext cx="11086121" cy="103366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1AB53-BAF9-439D-9451-47193CF2F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15479" y="2743200"/>
            <a:ext cx="11086121" cy="4572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96D9F-562A-496F-A530-A561994DC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2565305" y="5869582"/>
            <a:ext cx="3207954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44" b="1" cap="all" spc="533" baseline="0">
                <a:solidFill>
                  <a:schemeClr val="tx1"/>
                </a:solidFill>
              </a:defRPr>
            </a:lvl1pPr>
          </a:lstStyle>
          <a:p>
            <a:fld id="{B70A3DFD-A535-46B2-84C1-61DC8B16A904}" type="datetimeFigureOut">
              <a:rPr lang="en-US" dirty="0"/>
              <a:t>5/10/2026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060FE-AAC3-4FAE-9EB4-BCAE72D956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2567626" y="1931872"/>
            <a:ext cx="3203312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44" b="1" cap="all" spc="533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7EDB2-8F31-42FA-B253-62D2414663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791490" y="3863824"/>
            <a:ext cx="755584" cy="51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44" b="1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196A61CA-0502-4EE4-9724-96EA822543E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36083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31" r:id="rId1"/>
    <p:sldLayoutId id="2147483932" r:id="rId2"/>
    <p:sldLayoutId id="2147483933" r:id="rId3"/>
    <p:sldLayoutId id="2147483934" r:id="rId4"/>
    <p:sldLayoutId id="2147483935" r:id="rId5"/>
    <p:sldLayoutId id="2147483936" r:id="rId6"/>
    <p:sldLayoutId id="2147483937" r:id="rId7"/>
    <p:sldLayoutId id="2147483938" r:id="rId8"/>
    <p:sldLayoutId id="2147483939" r:id="rId9"/>
    <p:sldLayoutId id="2147483940" r:id="rId10"/>
    <p:sldLayoutId id="2147483941" r:id="rId11"/>
  </p:sldLayoutIdLst>
  <p:hf sldNum="0" hdr="0" ftr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cap="all" spc="6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466344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64008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76" userDrawn="1">
          <p15:clr>
            <a:srgbClr val="F26B43"/>
          </p15:clr>
        </p15:guide>
        <p15:guide id="2" pos="4608" userDrawn="1">
          <p15:clr>
            <a:srgbClr val="F26B43"/>
          </p15:clr>
        </p15:guide>
        <p15:guide id="3" pos="8640" userDrawn="1">
          <p15:clr>
            <a:srgbClr val="F26B43"/>
          </p15:clr>
        </p15:guide>
        <p15:guide id="4" pos="8064" userDrawn="1">
          <p15:clr>
            <a:srgbClr val="F26B43"/>
          </p15:clr>
        </p15:guide>
        <p15:guide id="16" pos="576" userDrawn="1">
          <p15:clr>
            <a:srgbClr val="F26B43"/>
          </p15:clr>
        </p15:guide>
        <p15:guide id="23" orient="horz" pos="46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8693DAE2-C47C-C1D7-C6C6-AE1FBE37DEBB}"/>
              </a:ext>
            </a:extLst>
          </p:cNvPr>
          <p:cNvSpPr/>
          <p:nvPr/>
        </p:nvSpPr>
        <p:spPr>
          <a:xfrm>
            <a:off x="793790" y="1898690"/>
            <a:ext cx="957905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s-EC" sz="2200" noProof="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Universidad de Las Américas · Facultad de Ingeniería y Ciencias Aplicadas</a:t>
            </a:r>
            <a:endParaRPr lang="es-EC" sz="2200" noProof="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E7F5ABB0-1FF3-DEE6-8A73-CD78639D0367}"/>
              </a:ext>
            </a:extLst>
          </p:cNvPr>
          <p:cNvSpPr/>
          <p:nvPr/>
        </p:nvSpPr>
        <p:spPr>
          <a:xfrm>
            <a:off x="793790" y="2240280"/>
            <a:ext cx="12252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550"/>
              </a:lnSpc>
            </a:pPr>
            <a:r>
              <a:rPr lang="es-EC" sz="3200" b="1" noProof="0" dirty="0">
                <a:solidFill>
                  <a:srgbClr val="FFFFFF"/>
                </a:solidFill>
                <a:latin typeface="Aptos"/>
              </a:rPr>
              <a:t>Sistema inteligente para la predicción de inventario en NovaPet</a:t>
            </a:r>
            <a:endParaRPr lang="es-EC" sz="4450" noProof="0" dirty="0">
              <a:latin typeface="IBM Plex Sans Medium"/>
            </a:endParaRP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96A2757A-CFEF-FE44-837B-DE210164EC62}"/>
              </a:ext>
            </a:extLst>
          </p:cNvPr>
          <p:cNvSpPr/>
          <p:nvPr/>
        </p:nvSpPr>
        <p:spPr>
          <a:xfrm>
            <a:off x="793790" y="3657600"/>
            <a:ext cx="1304282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s-EC" sz="1800" noProof="0" dirty="0">
                <a:solidFill>
                  <a:srgbClr val="FFFFFF"/>
                </a:solidFill>
                <a:latin typeface="Aptos"/>
              </a:rPr>
              <a:t>Predicción semanal de medicamentos y consumibles críticos mediante modelos de aprendizaje automático</a:t>
            </a:r>
            <a:endParaRPr lang="es-EC" sz="1750" noProof="0" dirty="0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E9D3D408-F72B-19B7-9D8B-2E87220D7671}"/>
              </a:ext>
            </a:extLst>
          </p:cNvPr>
          <p:cNvSpPr/>
          <p:nvPr/>
        </p:nvSpPr>
        <p:spPr>
          <a:xfrm>
            <a:off x="793790" y="4124120"/>
            <a:ext cx="13042821" cy="35957"/>
          </a:xfrm>
          <a:prstGeom prst="rect">
            <a:avLst/>
          </a:prstGeom>
          <a:solidFill>
            <a:srgbClr val="D4D4D1">
              <a:alpha val="50000"/>
            </a:srgbClr>
          </a:solidFill>
          <a:ln/>
        </p:spPr>
        <p:txBody>
          <a:bodyPr/>
          <a:lstStyle/>
          <a:p>
            <a:endParaRPr lang="es-EC" noProof="0" dirty="0"/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AFDC5527-6FED-8180-9880-B9DFB94C47E2}"/>
              </a:ext>
            </a:extLst>
          </p:cNvPr>
          <p:cNvSpPr/>
          <p:nvPr/>
        </p:nvSpPr>
        <p:spPr>
          <a:xfrm>
            <a:off x="793790" y="4770239"/>
            <a:ext cx="4196358" cy="30480"/>
          </a:xfrm>
          <a:prstGeom prst="rect">
            <a:avLst/>
          </a:prstGeom>
          <a:solidFill>
            <a:srgbClr val="FFBC8F"/>
          </a:solidFill>
          <a:ln/>
        </p:spPr>
        <p:txBody>
          <a:bodyPr/>
          <a:lstStyle/>
          <a:p>
            <a:endParaRPr lang="es-EC" noProof="0" dirty="0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7D717FF7-837C-A70E-4B21-CFAE55D276E7}"/>
              </a:ext>
            </a:extLst>
          </p:cNvPr>
          <p:cNvSpPr/>
          <p:nvPr/>
        </p:nvSpPr>
        <p:spPr>
          <a:xfrm>
            <a:off x="793790" y="49445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s-EC" sz="2200" noProof="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Programa</a:t>
            </a:r>
            <a:endParaRPr lang="es-EC" sz="2200" noProof="0" dirty="0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D1406085-C91E-7F2A-9727-4B4FF2CA6FF7}"/>
              </a:ext>
            </a:extLst>
          </p:cNvPr>
          <p:cNvSpPr/>
          <p:nvPr/>
        </p:nvSpPr>
        <p:spPr>
          <a:xfrm>
            <a:off x="793790" y="5434965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s-EC" sz="1750" noProof="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Maestría en Inteligencia Artificial Aplicada</a:t>
            </a:r>
            <a:endParaRPr lang="es-EC" sz="1750" noProof="0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DEF4844C-1642-3CD0-51B9-BD36211BAD2D}"/>
              </a:ext>
            </a:extLst>
          </p:cNvPr>
          <p:cNvSpPr/>
          <p:nvPr/>
        </p:nvSpPr>
        <p:spPr>
          <a:xfrm>
            <a:off x="5216962" y="4770239"/>
            <a:ext cx="4196358" cy="30480"/>
          </a:xfrm>
          <a:prstGeom prst="rect">
            <a:avLst/>
          </a:prstGeom>
          <a:solidFill>
            <a:srgbClr val="FFBC8F"/>
          </a:solidFill>
          <a:ln/>
        </p:spPr>
        <p:txBody>
          <a:bodyPr/>
          <a:lstStyle/>
          <a:p>
            <a:endParaRPr lang="es-EC" noProof="0" dirty="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03307181-B742-6F1C-C382-0AAB6F965957}"/>
              </a:ext>
            </a:extLst>
          </p:cNvPr>
          <p:cNvSpPr/>
          <p:nvPr/>
        </p:nvSpPr>
        <p:spPr>
          <a:xfrm>
            <a:off x="5216962" y="49445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s-EC" sz="2200" noProof="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Presentado por</a:t>
            </a:r>
            <a:endParaRPr lang="es-EC" sz="2200" noProof="0" dirty="0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68C9768C-9D63-69E0-64B8-99E8D382F429}"/>
              </a:ext>
            </a:extLst>
          </p:cNvPr>
          <p:cNvSpPr/>
          <p:nvPr/>
        </p:nvSpPr>
        <p:spPr>
          <a:xfrm>
            <a:off x="5216962" y="5434965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s-EC" sz="1600" noProof="0" dirty="0">
                <a:solidFill>
                  <a:srgbClr val="FFFFFF"/>
                </a:solidFill>
                <a:latin typeface="Aptos"/>
              </a:rPr>
              <a:t>Ricardo David Ayala Andrade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s-EC" sz="1600" noProof="0" dirty="0">
                <a:solidFill>
                  <a:srgbClr val="FFFFFF"/>
                </a:solidFill>
                <a:latin typeface="Aptos"/>
              </a:rPr>
              <a:t>Juan Pablo López Cox</a:t>
            </a:r>
            <a:endParaRPr lang="es-EC" sz="1750" noProof="0" dirty="0"/>
          </a:p>
        </p:txBody>
      </p:sp>
      <p:sp>
        <p:nvSpPr>
          <p:cNvPr id="26" name="Shape 10">
            <a:extLst>
              <a:ext uri="{FF2B5EF4-FFF2-40B4-BE49-F238E27FC236}">
                <a16:creationId xmlns:a16="http://schemas.microsoft.com/office/drawing/2014/main" id="{CE25704A-6EAA-F015-9BFA-5B6151B8AD15}"/>
              </a:ext>
            </a:extLst>
          </p:cNvPr>
          <p:cNvSpPr/>
          <p:nvPr/>
        </p:nvSpPr>
        <p:spPr>
          <a:xfrm>
            <a:off x="9640133" y="4770239"/>
            <a:ext cx="4196358" cy="30480"/>
          </a:xfrm>
          <a:prstGeom prst="rect">
            <a:avLst/>
          </a:prstGeom>
          <a:solidFill>
            <a:srgbClr val="FFBC8F"/>
          </a:solidFill>
          <a:ln/>
        </p:spPr>
        <p:txBody>
          <a:bodyPr/>
          <a:lstStyle/>
          <a:p>
            <a:endParaRPr lang="es-EC" noProof="0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F1A231F2-C5E8-A99B-EEF8-A091ECD15274}"/>
              </a:ext>
            </a:extLst>
          </p:cNvPr>
          <p:cNvSpPr/>
          <p:nvPr/>
        </p:nvSpPr>
        <p:spPr>
          <a:xfrm>
            <a:off x="9640133" y="49445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s-EC" sz="2200" noProof="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Tutor / Guía</a:t>
            </a:r>
            <a:endParaRPr lang="es-EC" sz="2200" noProof="0" dirty="0"/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FC4A899B-332E-46F4-F443-B1795F3903AA}"/>
              </a:ext>
            </a:extLst>
          </p:cNvPr>
          <p:cNvSpPr/>
          <p:nvPr/>
        </p:nvSpPr>
        <p:spPr>
          <a:xfrm>
            <a:off x="9640133" y="5434965"/>
            <a:ext cx="4196358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s-EC" sz="1800" noProof="0" dirty="0">
                <a:solidFill>
                  <a:srgbClr val="FFFFFF"/>
                </a:solidFill>
                <a:latin typeface="Aptos"/>
              </a:rPr>
              <a:t>Ana Estrella</a:t>
            </a:r>
            <a:endParaRPr lang="es-EC" sz="1750" noProof="0" dirty="0"/>
          </a:p>
        </p:txBody>
      </p:sp>
    </p:spTree>
    <p:extLst>
      <p:ext uri="{BB962C8B-B14F-4D97-AF65-F5344CB8AC3E}">
        <p14:creationId xmlns:p14="http://schemas.microsoft.com/office/powerpoint/2010/main" val="2159322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>
            <a:extLst>
              <a:ext uri="{FF2B5EF4-FFF2-40B4-BE49-F238E27FC236}">
                <a16:creationId xmlns:a16="http://schemas.microsoft.com/office/drawing/2014/main" id="{4944DBEF-E871-BA6C-E75D-E20E1151050C}"/>
              </a:ext>
            </a:extLst>
          </p:cNvPr>
          <p:cNvSpPr/>
          <p:nvPr/>
        </p:nvSpPr>
        <p:spPr>
          <a:xfrm>
            <a:off x="793790" y="1944767"/>
            <a:ext cx="1224468" cy="426244"/>
          </a:xfrm>
          <a:prstGeom prst="roundRect">
            <a:avLst>
              <a:gd name="adj" fmla="val 6386"/>
            </a:avLst>
          </a:prstGeom>
          <a:solidFill>
            <a:srgbClr val="CC0000"/>
          </a:solidFill>
          <a:ln/>
        </p:spPr>
        <p:txBody>
          <a:bodyPr/>
          <a:lstStyle/>
          <a:p>
            <a:endParaRPr lang="es-EC" noProof="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2D3C2C0A-BC0A-12B8-5AEA-A9B5550CD487}"/>
              </a:ext>
            </a:extLst>
          </p:cNvPr>
          <p:cNvSpPr/>
          <p:nvPr/>
        </p:nvSpPr>
        <p:spPr>
          <a:xfrm>
            <a:off x="929878" y="2012752"/>
            <a:ext cx="95229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s-EC" sz="1400" noProof="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CONTEXTO</a:t>
            </a:r>
            <a:endParaRPr lang="es-EC" sz="1400" noProof="0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1062E1EC-E0DC-8829-2C36-D973333F4459}"/>
              </a:ext>
            </a:extLst>
          </p:cNvPr>
          <p:cNvSpPr/>
          <p:nvPr/>
        </p:nvSpPr>
        <p:spPr>
          <a:xfrm>
            <a:off x="793790" y="2461736"/>
            <a:ext cx="742118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s-EC" sz="4450" noProof="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Contexto de la Organización</a:t>
            </a:r>
            <a:endParaRPr lang="es-EC" sz="4450" noProof="0" dirty="0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71D54E9F-8AE5-A675-71D6-02B0FD35B9A7}"/>
              </a:ext>
            </a:extLst>
          </p:cNvPr>
          <p:cNvSpPr/>
          <p:nvPr/>
        </p:nvSpPr>
        <p:spPr>
          <a:xfrm>
            <a:off x="793790" y="3510677"/>
            <a:ext cx="4305540" cy="2774156"/>
          </a:xfrm>
          <a:prstGeom prst="roundRect">
            <a:avLst>
              <a:gd name="adj" fmla="val 1226"/>
            </a:avLst>
          </a:prstGeom>
          <a:solidFill>
            <a:srgbClr val="292C32"/>
          </a:solidFill>
          <a:ln w="30480">
            <a:solidFill>
              <a:srgbClr val="61646A"/>
            </a:solidFill>
            <a:prstDash val="solid"/>
          </a:ln>
        </p:spPr>
        <p:txBody>
          <a:bodyPr/>
          <a:lstStyle/>
          <a:p>
            <a:endParaRPr lang="es-EC" noProof="0" dirty="0"/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F8B17605-EC0A-5269-FE4C-E4CA01A82404}"/>
              </a:ext>
            </a:extLst>
          </p:cNvPr>
          <p:cNvSpPr/>
          <p:nvPr/>
        </p:nvSpPr>
        <p:spPr>
          <a:xfrm>
            <a:off x="824270" y="3541157"/>
            <a:ext cx="4230932" cy="680442"/>
          </a:xfrm>
          <a:prstGeom prst="rect">
            <a:avLst/>
          </a:prstGeom>
          <a:solidFill>
            <a:srgbClr val="484B51"/>
          </a:solidFill>
          <a:ln/>
        </p:spPr>
        <p:txBody>
          <a:bodyPr/>
          <a:lstStyle/>
          <a:p>
            <a:endParaRPr lang="es-EC" noProof="0" dirty="0"/>
          </a:p>
        </p:txBody>
      </p:sp>
      <p:pic>
        <p:nvPicPr>
          <p:cNvPr id="16" name="Image 0" descr="preencoded.png">
            <a:extLst>
              <a:ext uri="{FF2B5EF4-FFF2-40B4-BE49-F238E27FC236}">
                <a16:creationId xmlns:a16="http://schemas.microsoft.com/office/drawing/2014/main" id="{0B076F77-C508-12BD-4746-5532688F32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21888" y="3711178"/>
            <a:ext cx="353809" cy="340162"/>
          </a:xfrm>
          <a:prstGeom prst="rect">
            <a:avLst/>
          </a:prstGeom>
        </p:spPr>
      </p:pic>
      <p:sp>
        <p:nvSpPr>
          <p:cNvPr id="18" name="Text 5">
            <a:extLst>
              <a:ext uri="{FF2B5EF4-FFF2-40B4-BE49-F238E27FC236}">
                <a16:creationId xmlns:a16="http://schemas.microsoft.com/office/drawing/2014/main" id="{399D38D4-1D4D-ACEC-CA9F-2FF02A91A923}"/>
              </a:ext>
            </a:extLst>
          </p:cNvPr>
          <p:cNvSpPr/>
          <p:nvPr/>
        </p:nvSpPr>
        <p:spPr>
          <a:xfrm>
            <a:off x="975113" y="4384596"/>
            <a:ext cx="290347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s-EC" sz="2200" noProof="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Identificación</a:t>
            </a:r>
            <a:endParaRPr lang="es-EC" sz="2200" noProof="0" dirty="0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95C9939A-E10D-13A9-C96C-5F460BCD4A2B}"/>
              </a:ext>
            </a:extLst>
          </p:cNvPr>
          <p:cNvSpPr/>
          <p:nvPr/>
        </p:nvSpPr>
        <p:spPr>
          <a:xfrm>
            <a:off x="955669" y="4625578"/>
            <a:ext cx="3777304" cy="1433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s-EC" sz="1300" noProof="0" dirty="0">
                <a:solidFill>
                  <a:srgbClr val="D2D2D2"/>
                </a:solidFill>
                <a:latin typeface="Aptos"/>
              </a:rPr>
              <a:t>NovaPet es una clínica veterinaria dedicada a consulta, vacunación, atención preventiva, procedimientos clínicos y comercialización de productos veterinarios.</a:t>
            </a:r>
            <a:endParaRPr lang="es-EC" sz="1750" noProof="0" dirty="0"/>
          </a:p>
        </p:txBody>
      </p:sp>
      <p:sp>
        <p:nvSpPr>
          <p:cNvPr id="22" name="Shape 7">
            <a:extLst>
              <a:ext uri="{FF2B5EF4-FFF2-40B4-BE49-F238E27FC236}">
                <a16:creationId xmlns:a16="http://schemas.microsoft.com/office/drawing/2014/main" id="{14DD8FE6-6064-C72B-7994-E940CE0E748B}"/>
              </a:ext>
            </a:extLst>
          </p:cNvPr>
          <p:cNvSpPr/>
          <p:nvPr/>
        </p:nvSpPr>
        <p:spPr>
          <a:xfrm>
            <a:off x="5216962" y="3510677"/>
            <a:ext cx="4305540" cy="2774156"/>
          </a:xfrm>
          <a:prstGeom prst="roundRect">
            <a:avLst>
              <a:gd name="adj" fmla="val 1226"/>
            </a:avLst>
          </a:prstGeom>
          <a:solidFill>
            <a:srgbClr val="292C32"/>
          </a:solidFill>
          <a:ln w="30480">
            <a:solidFill>
              <a:srgbClr val="61646A"/>
            </a:solidFill>
            <a:prstDash val="solid"/>
          </a:ln>
        </p:spPr>
        <p:txBody>
          <a:bodyPr/>
          <a:lstStyle/>
          <a:p>
            <a:endParaRPr lang="es-EC" noProof="0" dirty="0"/>
          </a:p>
        </p:txBody>
      </p:sp>
      <p:sp>
        <p:nvSpPr>
          <p:cNvPr id="24" name="Shape 8">
            <a:extLst>
              <a:ext uri="{FF2B5EF4-FFF2-40B4-BE49-F238E27FC236}">
                <a16:creationId xmlns:a16="http://schemas.microsoft.com/office/drawing/2014/main" id="{65C3E45F-5C09-7281-DC52-0A42A896DA7A}"/>
              </a:ext>
            </a:extLst>
          </p:cNvPr>
          <p:cNvSpPr/>
          <p:nvPr/>
        </p:nvSpPr>
        <p:spPr>
          <a:xfrm>
            <a:off x="5247442" y="3541157"/>
            <a:ext cx="4230932" cy="680442"/>
          </a:xfrm>
          <a:prstGeom prst="rect">
            <a:avLst/>
          </a:prstGeom>
          <a:solidFill>
            <a:srgbClr val="484B51"/>
          </a:solidFill>
          <a:ln/>
        </p:spPr>
        <p:txBody>
          <a:bodyPr/>
          <a:lstStyle/>
          <a:p>
            <a:endParaRPr lang="es-EC" noProof="0" dirty="0"/>
          </a:p>
        </p:txBody>
      </p:sp>
      <p:pic>
        <p:nvPicPr>
          <p:cNvPr id="26" name="Image 1" descr="preencoded.png">
            <a:extLst>
              <a:ext uri="{FF2B5EF4-FFF2-40B4-BE49-F238E27FC236}">
                <a16:creationId xmlns:a16="http://schemas.microsoft.com/office/drawing/2014/main" id="{C3594B84-C38A-BAD7-C738-8804A5EE65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5060" y="3711178"/>
            <a:ext cx="353809" cy="340162"/>
          </a:xfrm>
          <a:prstGeom prst="rect">
            <a:avLst/>
          </a:prstGeom>
        </p:spPr>
      </p:pic>
      <p:sp>
        <p:nvSpPr>
          <p:cNvPr id="28" name="Text 9">
            <a:extLst>
              <a:ext uri="{FF2B5EF4-FFF2-40B4-BE49-F238E27FC236}">
                <a16:creationId xmlns:a16="http://schemas.microsoft.com/office/drawing/2014/main" id="{4A012298-00B0-55ED-9918-346DD453A94E}"/>
              </a:ext>
            </a:extLst>
          </p:cNvPr>
          <p:cNvSpPr/>
          <p:nvPr/>
        </p:nvSpPr>
        <p:spPr>
          <a:xfrm>
            <a:off x="5474256" y="4448413"/>
            <a:ext cx="290347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s-EC" sz="2200" noProof="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Misión y Visión</a:t>
            </a:r>
            <a:endParaRPr lang="es-EC" sz="2200" noProof="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FDDD8E81-08DC-8627-0FEB-836C7E3DAFAF}"/>
              </a:ext>
            </a:extLst>
          </p:cNvPr>
          <p:cNvSpPr/>
          <p:nvPr/>
        </p:nvSpPr>
        <p:spPr>
          <a:xfrm>
            <a:off x="5433312" y="4788712"/>
            <a:ext cx="377730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s-EC" sz="1300" noProof="0" dirty="0">
                <a:solidFill>
                  <a:srgbClr val="D2D2D2"/>
                </a:solidFill>
                <a:latin typeface="Aptos"/>
              </a:rPr>
              <a:t>La organización busca brindar atención oportuna y confiable, incorporando herramientas digitales para mejorar eficiencia operativa y calidad del servicio.</a:t>
            </a:r>
            <a:endParaRPr lang="es-EC" sz="1750" noProof="0" dirty="0"/>
          </a:p>
        </p:txBody>
      </p:sp>
      <p:sp>
        <p:nvSpPr>
          <p:cNvPr id="32" name="Shape 11">
            <a:extLst>
              <a:ext uri="{FF2B5EF4-FFF2-40B4-BE49-F238E27FC236}">
                <a16:creationId xmlns:a16="http://schemas.microsoft.com/office/drawing/2014/main" id="{48755A67-E6F2-6419-10DE-F8839979F0C4}"/>
              </a:ext>
            </a:extLst>
          </p:cNvPr>
          <p:cNvSpPr/>
          <p:nvPr/>
        </p:nvSpPr>
        <p:spPr>
          <a:xfrm>
            <a:off x="9640133" y="3510677"/>
            <a:ext cx="4305540" cy="2774156"/>
          </a:xfrm>
          <a:prstGeom prst="roundRect">
            <a:avLst>
              <a:gd name="adj" fmla="val 1226"/>
            </a:avLst>
          </a:prstGeom>
          <a:solidFill>
            <a:srgbClr val="292C32"/>
          </a:solidFill>
          <a:ln w="30480">
            <a:solidFill>
              <a:srgbClr val="61646A"/>
            </a:solidFill>
            <a:prstDash val="solid"/>
          </a:ln>
        </p:spPr>
        <p:txBody>
          <a:bodyPr/>
          <a:lstStyle/>
          <a:p>
            <a:endParaRPr lang="es-EC" noProof="0" dirty="0"/>
          </a:p>
        </p:txBody>
      </p:sp>
      <p:sp>
        <p:nvSpPr>
          <p:cNvPr id="34" name="Shape 12">
            <a:extLst>
              <a:ext uri="{FF2B5EF4-FFF2-40B4-BE49-F238E27FC236}">
                <a16:creationId xmlns:a16="http://schemas.microsoft.com/office/drawing/2014/main" id="{0A966985-6B66-6E66-B624-18456FE70665}"/>
              </a:ext>
            </a:extLst>
          </p:cNvPr>
          <p:cNvSpPr/>
          <p:nvPr/>
        </p:nvSpPr>
        <p:spPr>
          <a:xfrm>
            <a:off x="9670613" y="3541157"/>
            <a:ext cx="4230932" cy="680442"/>
          </a:xfrm>
          <a:prstGeom prst="rect">
            <a:avLst/>
          </a:prstGeom>
          <a:solidFill>
            <a:srgbClr val="484B51"/>
          </a:solidFill>
          <a:ln/>
        </p:spPr>
        <p:txBody>
          <a:bodyPr/>
          <a:lstStyle/>
          <a:p>
            <a:endParaRPr lang="es-EC" noProof="0" dirty="0"/>
          </a:p>
        </p:txBody>
      </p:sp>
      <p:pic>
        <p:nvPicPr>
          <p:cNvPr id="36" name="Image 2" descr="preencoded.png">
            <a:extLst>
              <a:ext uri="{FF2B5EF4-FFF2-40B4-BE49-F238E27FC236}">
                <a16:creationId xmlns:a16="http://schemas.microsoft.com/office/drawing/2014/main" id="{EEB6A8A5-A5C1-B769-2B02-F8AB30746C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68232" y="3711178"/>
            <a:ext cx="353809" cy="340162"/>
          </a:xfrm>
          <a:prstGeom prst="rect">
            <a:avLst/>
          </a:prstGeom>
        </p:spPr>
      </p:pic>
      <p:sp>
        <p:nvSpPr>
          <p:cNvPr id="38" name="Text 13">
            <a:extLst>
              <a:ext uri="{FF2B5EF4-FFF2-40B4-BE49-F238E27FC236}">
                <a16:creationId xmlns:a16="http://schemas.microsoft.com/office/drawing/2014/main" id="{1E2E2D23-4ADC-3D34-D6FC-9C6EFDCDAAF5}"/>
              </a:ext>
            </a:extLst>
          </p:cNvPr>
          <p:cNvSpPr/>
          <p:nvPr/>
        </p:nvSpPr>
        <p:spPr>
          <a:xfrm>
            <a:off x="9897427" y="4448413"/>
            <a:ext cx="290347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s-EC" sz="2200" noProof="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Área de Aplicación</a:t>
            </a:r>
            <a:endParaRPr lang="es-EC" sz="2200" noProof="0" dirty="0"/>
          </a:p>
        </p:txBody>
      </p:sp>
      <p:sp>
        <p:nvSpPr>
          <p:cNvPr id="40" name="Text 14">
            <a:extLst>
              <a:ext uri="{FF2B5EF4-FFF2-40B4-BE49-F238E27FC236}">
                <a16:creationId xmlns:a16="http://schemas.microsoft.com/office/drawing/2014/main" id="{87C4DD8E-B27C-398C-6D7F-BFF27AE6D163}"/>
              </a:ext>
            </a:extLst>
          </p:cNvPr>
          <p:cNvSpPr/>
          <p:nvPr/>
        </p:nvSpPr>
        <p:spPr>
          <a:xfrm>
            <a:off x="9897427" y="4938832"/>
            <a:ext cx="377730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s-EC" sz="1300" noProof="0" dirty="0">
                <a:solidFill>
                  <a:srgbClr val="D2D2D2"/>
                </a:solidFill>
                <a:latin typeface="Aptos"/>
              </a:rPr>
              <a:t>Gestión de inventario y abastecimiento de medicamentos, vacunas y consumibles críticos para la continuidad de atención.</a:t>
            </a:r>
            <a:endParaRPr lang="es-EC" sz="1750" noProof="0" dirty="0"/>
          </a:p>
        </p:txBody>
      </p:sp>
    </p:spTree>
    <p:extLst>
      <p:ext uri="{BB962C8B-B14F-4D97-AF65-F5344CB8AC3E}">
        <p14:creationId xmlns:p14="http://schemas.microsoft.com/office/powerpoint/2010/main" val="900927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>
            <a:extLst>
              <a:ext uri="{FF2B5EF4-FFF2-40B4-BE49-F238E27FC236}">
                <a16:creationId xmlns:a16="http://schemas.microsoft.com/office/drawing/2014/main" id="{EFB2CD8D-D104-078D-7E65-843E27971B52}"/>
              </a:ext>
            </a:extLst>
          </p:cNvPr>
          <p:cNvSpPr/>
          <p:nvPr/>
        </p:nvSpPr>
        <p:spPr>
          <a:xfrm>
            <a:off x="1255157" y="483037"/>
            <a:ext cx="941308" cy="304681"/>
          </a:xfrm>
          <a:prstGeom prst="roundRect">
            <a:avLst>
              <a:gd name="adj" fmla="val 6918"/>
            </a:avLst>
          </a:prstGeom>
          <a:solidFill>
            <a:srgbClr val="CC0000"/>
          </a:solidFill>
          <a:ln/>
        </p:spPr>
        <p:txBody>
          <a:bodyPr/>
          <a:lstStyle/>
          <a:p>
            <a:endParaRPr lang="es-EC" noProof="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577735F3-2C31-D236-D1DB-43CD0445C56C}"/>
              </a:ext>
            </a:extLst>
          </p:cNvPr>
          <p:cNvSpPr/>
          <p:nvPr/>
        </p:nvSpPr>
        <p:spPr>
          <a:xfrm>
            <a:off x="1360527" y="535662"/>
            <a:ext cx="730568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s-EC" sz="1100" noProof="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PROBLEMA</a:t>
            </a:r>
            <a:endParaRPr lang="es-EC" sz="1100" noProof="0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66767E60-9BE9-178C-AD00-3B1BD3D68198}"/>
              </a:ext>
            </a:extLst>
          </p:cNvPr>
          <p:cNvSpPr/>
          <p:nvPr/>
        </p:nvSpPr>
        <p:spPr>
          <a:xfrm>
            <a:off x="1255157" y="842010"/>
            <a:ext cx="8183523" cy="548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s-EC" sz="3450" noProof="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Identificación del Problema y Relevancia</a:t>
            </a:r>
            <a:endParaRPr lang="es-EC" sz="3450" noProof="0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7238C15E-738F-7924-0AFF-4F8AB867075E}"/>
              </a:ext>
            </a:extLst>
          </p:cNvPr>
          <p:cNvSpPr/>
          <p:nvPr/>
        </p:nvSpPr>
        <p:spPr>
          <a:xfrm>
            <a:off x="1098649" y="2480370"/>
            <a:ext cx="2195632" cy="274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s-EC" sz="1700" noProof="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El Problema</a:t>
            </a:r>
            <a:endParaRPr lang="es-EC" sz="1700" noProof="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04B36D94-010B-6FC6-09C4-CB6E8857A3D3}"/>
              </a:ext>
            </a:extLst>
          </p:cNvPr>
          <p:cNvSpPr/>
          <p:nvPr/>
        </p:nvSpPr>
        <p:spPr>
          <a:xfrm>
            <a:off x="1098649" y="2934295"/>
            <a:ext cx="5845850" cy="524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s-EC" sz="1300" noProof="0" dirty="0">
                <a:solidFill>
                  <a:srgbClr val="D2D2D2"/>
                </a:solidFill>
                <a:latin typeface="Aptos"/>
              </a:rPr>
              <a:t>La reposición dependía de revisión manual, hojas de cálculo y experiencia operativa, dificultando anticipar cambios de consumo y niveles adecuados de abastecimiento.</a:t>
            </a:r>
            <a:endParaRPr lang="es-EC" sz="1350" noProof="0" dirty="0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441DBA87-42C4-E10C-BC1B-D1793D7DFB44}"/>
              </a:ext>
            </a:extLst>
          </p:cNvPr>
          <p:cNvSpPr/>
          <p:nvPr/>
        </p:nvSpPr>
        <p:spPr>
          <a:xfrm>
            <a:off x="1098649" y="3977580"/>
            <a:ext cx="2195632" cy="274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s-EC" sz="1700" noProof="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Justificación</a:t>
            </a:r>
            <a:endParaRPr lang="es-EC" sz="1700" noProof="0" dirty="0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B9A8CFE5-0E20-24B4-09CD-AD1DFB455942}"/>
              </a:ext>
            </a:extLst>
          </p:cNvPr>
          <p:cNvSpPr/>
          <p:nvPr/>
        </p:nvSpPr>
        <p:spPr>
          <a:xfrm>
            <a:off x="1098649" y="4504253"/>
            <a:ext cx="5845850" cy="78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s-EC" sz="1300" noProof="0" dirty="0">
                <a:solidFill>
                  <a:srgbClr val="D2D2D2"/>
                </a:solidFill>
                <a:latin typeface="Aptos"/>
              </a:rPr>
              <a:t>La baja capacidad predictiva genera riesgo de quiebres de stock, compras urgentes, sobre inventario y caducidad, afectando costos y continuidad del servicio.</a:t>
            </a:r>
            <a:endParaRPr lang="es-EC" sz="1350" noProof="0" dirty="0"/>
          </a:p>
        </p:txBody>
      </p:sp>
      <p:sp>
        <p:nvSpPr>
          <p:cNvPr id="23" name="Rounded Rectangle 22"/>
          <p:cNvSpPr/>
          <p:nvPr/>
        </p:nvSpPr>
        <p:spPr>
          <a:xfrm>
            <a:off x="8145487" y="2126039"/>
            <a:ext cx="5074920" cy="4251960"/>
          </a:xfrm>
          <a:prstGeom prst="roundRect">
            <a:avLst/>
          </a:prstGeom>
          <a:solidFill>
            <a:srgbClr val="2D3137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s-EC" sz="1500" noProof="0" dirty="0">
                <a:solidFill>
                  <a:srgbClr val="FFFFFF"/>
                </a:solidFill>
                <a:latin typeface="Aptos"/>
              </a:rPr>
              <a:t>Causa raíz</a:t>
            </a:r>
          </a:p>
          <a:p>
            <a:r>
              <a:rPr lang="es-EC" sz="1500" noProof="0" dirty="0">
                <a:solidFill>
                  <a:srgbClr val="FFFFFF"/>
                </a:solidFill>
                <a:latin typeface="Aptos"/>
              </a:rPr>
              <a:t>Gestión manual + baja predicción</a:t>
            </a:r>
          </a:p>
          <a:p>
            <a:endParaRPr lang="es-EC" sz="1500" noProof="0" dirty="0">
              <a:solidFill>
                <a:srgbClr val="FFFFFF"/>
              </a:solidFill>
              <a:latin typeface="Aptos"/>
            </a:endParaRPr>
          </a:p>
          <a:p>
            <a:r>
              <a:rPr lang="es-EC" sz="1500" noProof="0" dirty="0">
                <a:solidFill>
                  <a:srgbClr val="FFFFFF"/>
                </a:solidFill>
                <a:latin typeface="Aptos"/>
              </a:rPr>
              <a:t>Efecto operativo</a:t>
            </a:r>
          </a:p>
          <a:p>
            <a:r>
              <a:rPr lang="es-EC" sz="1500" noProof="0" dirty="0">
                <a:solidFill>
                  <a:srgbClr val="FFFFFF"/>
                </a:solidFill>
                <a:latin typeface="Aptos"/>
              </a:rPr>
              <a:t>Quiebres · compras urgentes · sobre inventario</a:t>
            </a:r>
          </a:p>
          <a:p>
            <a:endParaRPr lang="es-EC" sz="1500" noProof="0" dirty="0">
              <a:solidFill>
                <a:srgbClr val="FFFFFF"/>
              </a:solidFill>
              <a:latin typeface="Aptos"/>
            </a:endParaRPr>
          </a:p>
          <a:p>
            <a:r>
              <a:rPr lang="es-EC" sz="1500" noProof="0" dirty="0">
                <a:solidFill>
                  <a:srgbClr val="FFFFFF"/>
                </a:solidFill>
                <a:latin typeface="Aptos"/>
              </a:rPr>
              <a:t>Necesidad</a:t>
            </a:r>
          </a:p>
          <a:p>
            <a:r>
              <a:rPr lang="es-EC" sz="1500" noProof="0" dirty="0">
                <a:solidFill>
                  <a:srgbClr val="FFFFFF"/>
                </a:solidFill>
                <a:latin typeface="Aptos"/>
              </a:rPr>
              <a:t>Anticipar demanda y apoyar la decisión de compra</a:t>
            </a:r>
          </a:p>
        </p:txBody>
      </p:sp>
    </p:spTree>
    <p:extLst>
      <p:ext uri="{BB962C8B-B14F-4D97-AF65-F5344CB8AC3E}">
        <p14:creationId xmlns:p14="http://schemas.microsoft.com/office/powerpoint/2010/main" val="1009399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>
            <a:extLst>
              <a:ext uri="{FF2B5EF4-FFF2-40B4-BE49-F238E27FC236}">
                <a16:creationId xmlns:a16="http://schemas.microsoft.com/office/drawing/2014/main" id="{8F06FB4B-E20A-85DA-86F3-1A8417CEDAB9}"/>
              </a:ext>
            </a:extLst>
          </p:cNvPr>
          <p:cNvSpPr/>
          <p:nvPr/>
        </p:nvSpPr>
        <p:spPr>
          <a:xfrm>
            <a:off x="793790" y="1259919"/>
            <a:ext cx="1219081" cy="426244"/>
          </a:xfrm>
          <a:prstGeom prst="roundRect">
            <a:avLst>
              <a:gd name="adj" fmla="val 6386"/>
            </a:avLst>
          </a:prstGeom>
          <a:solidFill>
            <a:srgbClr val="CC0000"/>
          </a:solidFill>
          <a:ln/>
        </p:spPr>
        <p:txBody>
          <a:bodyPr/>
          <a:lstStyle/>
          <a:p>
            <a:endParaRPr lang="es-EC" noProof="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DC3A473E-8219-30C0-0049-69391250F03F}"/>
              </a:ext>
            </a:extLst>
          </p:cNvPr>
          <p:cNvSpPr/>
          <p:nvPr/>
        </p:nvSpPr>
        <p:spPr>
          <a:xfrm>
            <a:off x="929878" y="1327904"/>
            <a:ext cx="94690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s-EC" sz="1400" noProof="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OBJETIVOS</a:t>
            </a:r>
            <a:endParaRPr lang="es-EC" sz="1400" noProof="0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986E68C1-EF00-190F-DC36-80A3B162548A}"/>
              </a:ext>
            </a:extLst>
          </p:cNvPr>
          <p:cNvSpPr/>
          <p:nvPr/>
        </p:nvSpPr>
        <p:spPr>
          <a:xfrm>
            <a:off x="793790" y="1776889"/>
            <a:ext cx="844176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s-EC" sz="4450" noProof="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Objetivos y Alcance del Proyecto</a:t>
            </a:r>
            <a:endParaRPr lang="es-EC" sz="4450" noProof="0" dirty="0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01F95E38-E745-1B9D-B9AD-8078441960B4}"/>
              </a:ext>
            </a:extLst>
          </p:cNvPr>
          <p:cNvSpPr/>
          <p:nvPr/>
        </p:nvSpPr>
        <p:spPr>
          <a:xfrm>
            <a:off x="793790" y="2825829"/>
            <a:ext cx="13042821" cy="1326713"/>
          </a:xfrm>
          <a:prstGeom prst="roundRect">
            <a:avLst>
              <a:gd name="adj" fmla="val 2565"/>
            </a:avLst>
          </a:prstGeom>
          <a:solidFill>
            <a:srgbClr val="CC0000"/>
          </a:solidFill>
          <a:ln/>
        </p:spPr>
        <p:txBody>
          <a:bodyPr/>
          <a:lstStyle/>
          <a:p>
            <a:endParaRPr lang="es-EC" noProof="0" dirty="0"/>
          </a:p>
        </p:txBody>
      </p:sp>
      <p:pic>
        <p:nvPicPr>
          <p:cNvPr id="14" name="Image 0" descr="preencoded.png">
            <a:extLst>
              <a:ext uri="{FF2B5EF4-FFF2-40B4-BE49-F238E27FC236}">
                <a16:creationId xmlns:a16="http://schemas.microsoft.com/office/drawing/2014/main" id="{FE79E28B-C0ED-3397-5A1A-1F4D109251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604" y="3169920"/>
            <a:ext cx="283488" cy="226814"/>
          </a:xfrm>
          <a:prstGeom prst="rect">
            <a:avLst/>
          </a:prstGeom>
        </p:spPr>
      </p:pic>
      <p:sp>
        <p:nvSpPr>
          <p:cNvPr id="16" name="Text 4">
            <a:extLst>
              <a:ext uri="{FF2B5EF4-FFF2-40B4-BE49-F238E27FC236}">
                <a16:creationId xmlns:a16="http://schemas.microsoft.com/office/drawing/2014/main" id="{80F2C355-4293-8423-49EC-B66D73D29D4D}"/>
              </a:ext>
            </a:extLst>
          </p:cNvPr>
          <p:cNvSpPr/>
          <p:nvPr/>
        </p:nvSpPr>
        <p:spPr>
          <a:xfrm>
            <a:off x="1530906" y="3109317"/>
            <a:ext cx="120788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s-EC" sz="1500" noProof="0" dirty="0">
                <a:solidFill>
                  <a:srgbClr val="D2D2D2"/>
                </a:solidFill>
                <a:latin typeface="Aptos"/>
              </a:rPr>
              <a:t>Objetivo General (SMART): Desarrollar un sistema inteligente para predecir el consumo semanal de medicamentos y consumibles críticos en NovaPet, generando recomendaciones de abastecimiento basadas en datos históricos y validación técnica.</a:t>
            </a:r>
            <a:endParaRPr lang="es-EC" sz="1750" noProof="0" dirty="0"/>
          </a:p>
        </p:txBody>
      </p:sp>
      <p:sp>
        <p:nvSpPr>
          <p:cNvPr id="18" name="Shape 5">
            <a:extLst>
              <a:ext uri="{FF2B5EF4-FFF2-40B4-BE49-F238E27FC236}">
                <a16:creationId xmlns:a16="http://schemas.microsoft.com/office/drawing/2014/main" id="{957DC114-0BEB-7CFB-9D98-D848224E0AA0}"/>
              </a:ext>
            </a:extLst>
          </p:cNvPr>
          <p:cNvSpPr/>
          <p:nvPr/>
        </p:nvSpPr>
        <p:spPr>
          <a:xfrm>
            <a:off x="793790" y="4407694"/>
            <a:ext cx="13042821" cy="2561868"/>
          </a:xfrm>
          <a:prstGeom prst="roundRect">
            <a:avLst>
              <a:gd name="adj" fmla="val 1328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es-EC" noProof="0" dirty="0"/>
          </a:p>
        </p:txBody>
      </p:sp>
      <p:sp>
        <p:nvSpPr>
          <p:cNvPr id="20" name="Shape 6">
            <a:extLst>
              <a:ext uri="{FF2B5EF4-FFF2-40B4-BE49-F238E27FC236}">
                <a16:creationId xmlns:a16="http://schemas.microsoft.com/office/drawing/2014/main" id="{0D5D1BC9-BE26-9704-47FD-200035781F9B}"/>
              </a:ext>
            </a:extLst>
          </p:cNvPr>
          <p:cNvSpPr/>
          <p:nvPr/>
        </p:nvSpPr>
        <p:spPr>
          <a:xfrm>
            <a:off x="793790" y="4407694"/>
            <a:ext cx="4347567" cy="2561868"/>
          </a:xfrm>
          <a:prstGeom prst="roundRect">
            <a:avLst>
              <a:gd name="adj" fmla="val 1328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es-EC" noProof="0" dirty="0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3DC69A41-9461-2881-F990-95873FBBB364}"/>
              </a:ext>
            </a:extLst>
          </p:cNvPr>
          <p:cNvSpPr/>
          <p:nvPr/>
        </p:nvSpPr>
        <p:spPr>
          <a:xfrm>
            <a:off x="1020604" y="4634508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s-EC" sz="2200" noProof="0" dirty="0">
                <a:solidFill>
                  <a:srgbClr val="D4D4D1"/>
                </a:solidFill>
                <a:latin typeface="IBM Plex Sans Medium"/>
                <a:ea typeface="IBM Plex Sans Medium" pitchFamily="34" charset="-122"/>
                <a:cs typeface="IBM Plex Sans Medium" pitchFamily="34" charset="-120"/>
              </a:rPr>
              <a:t> Incluye</a:t>
            </a:r>
            <a:endParaRPr lang="es-EC" sz="2200" noProof="0" dirty="0">
              <a:latin typeface="IBM Plex Sans Medium"/>
            </a:endParaRPr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FE50B018-D18C-B2CE-7966-0A5DC9D06731}"/>
              </a:ext>
            </a:extLst>
          </p:cNvPr>
          <p:cNvSpPr/>
          <p:nvPr/>
        </p:nvSpPr>
        <p:spPr>
          <a:xfrm>
            <a:off x="1020604" y="5132546"/>
            <a:ext cx="3893939" cy="1693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s-EC" sz="1300" noProof="0" dirty="0">
                <a:solidFill>
                  <a:srgbClr val="D2D2D2"/>
                </a:solidFill>
                <a:latin typeface="Aptos"/>
              </a:rPr>
              <a:t>Predicción semanal</a:t>
            </a: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s-EC" sz="1300" dirty="0">
                <a:solidFill>
                  <a:srgbClr val="D2D2D2"/>
                </a:solidFill>
                <a:latin typeface="Aptos"/>
              </a:rPr>
              <a:t>Recomendación de compra</a:t>
            </a:r>
          </a:p>
          <a:p>
            <a:pPr marL="342900" indent="-342900">
              <a:lnSpc>
                <a:spcPts val="2850"/>
              </a:lnSpc>
              <a:buSzPct val="100000"/>
              <a:buFontTx/>
              <a:buChar char="•"/>
            </a:pPr>
            <a:r>
              <a:rPr lang="es-EC" sz="1300" dirty="0">
                <a:solidFill>
                  <a:srgbClr val="D2D2D2"/>
                </a:solidFill>
                <a:latin typeface="Aptos"/>
              </a:rPr>
              <a:t>Comparación </a:t>
            </a:r>
            <a:r>
              <a:rPr lang="es-EC" sz="1300" dirty="0" err="1">
                <a:solidFill>
                  <a:srgbClr val="D2D2D2"/>
                </a:solidFill>
                <a:latin typeface="Aptos"/>
              </a:rPr>
              <a:t>baseline</a:t>
            </a:r>
            <a:r>
              <a:rPr lang="es-EC" sz="1300" dirty="0">
                <a:solidFill>
                  <a:srgbClr val="D2D2D2"/>
                </a:solidFill>
                <a:latin typeface="Aptos"/>
              </a:rPr>
              <a:t> vs ML</a:t>
            </a:r>
          </a:p>
          <a:p>
            <a:pPr marL="342900" indent="-342900">
              <a:lnSpc>
                <a:spcPts val="2850"/>
              </a:lnSpc>
              <a:buSzPct val="100000"/>
              <a:buFontTx/>
              <a:buChar char="•"/>
            </a:pPr>
            <a:r>
              <a:rPr lang="es-EC" sz="1300" dirty="0">
                <a:solidFill>
                  <a:srgbClr val="D2D2D2"/>
                </a:solidFill>
                <a:latin typeface="Aptos"/>
              </a:rPr>
              <a:t>Prototipo funcional en </a:t>
            </a:r>
            <a:r>
              <a:rPr lang="es-EC" sz="1300" dirty="0" err="1">
                <a:solidFill>
                  <a:srgbClr val="D2D2D2"/>
                </a:solidFill>
                <a:latin typeface="Aptos"/>
              </a:rPr>
              <a:t>Streamlit</a:t>
            </a:r>
            <a:endParaRPr lang="es-EC" sz="1300" dirty="0">
              <a:solidFill>
                <a:srgbClr val="D2D2D2"/>
              </a:solidFill>
              <a:latin typeface="Aptos"/>
            </a:endParaRPr>
          </a:p>
          <a:p>
            <a:pPr marL="342900" indent="-342900">
              <a:lnSpc>
                <a:spcPts val="2850"/>
              </a:lnSpc>
              <a:buSzPct val="100000"/>
              <a:buFontTx/>
              <a:buChar char="•"/>
            </a:pPr>
            <a:endParaRPr lang="es-EC" sz="1300" dirty="0">
              <a:solidFill>
                <a:srgbClr val="D2D2D2"/>
              </a:solidFill>
              <a:latin typeface="Aptos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s-EC" sz="1300" noProof="0" dirty="0">
              <a:solidFill>
                <a:srgbClr val="D2D2D2"/>
              </a:solidFill>
              <a:latin typeface="Aptos"/>
            </a:endParaRPr>
          </a:p>
        </p:txBody>
      </p:sp>
      <p:sp>
        <p:nvSpPr>
          <p:cNvPr id="26" name="Shape 9">
            <a:extLst>
              <a:ext uri="{FF2B5EF4-FFF2-40B4-BE49-F238E27FC236}">
                <a16:creationId xmlns:a16="http://schemas.microsoft.com/office/drawing/2014/main" id="{8D8E25F0-EB45-7F92-6AB2-782F868198B7}"/>
              </a:ext>
            </a:extLst>
          </p:cNvPr>
          <p:cNvSpPr/>
          <p:nvPr/>
        </p:nvSpPr>
        <p:spPr>
          <a:xfrm>
            <a:off x="5141357" y="4407694"/>
            <a:ext cx="4347567" cy="2561868"/>
          </a:xfrm>
          <a:prstGeom prst="rect">
            <a:avLst/>
          </a:prstGeom>
          <a:solidFill>
            <a:srgbClr val="484B51"/>
          </a:solidFill>
          <a:ln/>
        </p:spPr>
        <p:txBody>
          <a:bodyPr/>
          <a:lstStyle/>
          <a:p>
            <a:endParaRPr lang="es-EC" noProof="0" dirty="0"/>
          </a:p>
        </p:txBody>
      </p:sp>
      <p:sp>
        <p:nvSpPr>
          <p:cNvPr id="28" name="Shape 10">
            <a:extLst>
              <a:ext uri="{FF2B5EF4-FFF2-40B4-BE49-F238E27FC236}">
                <a16:creationId xmlns:a16="http://schemas.microsoft.com/office/drawing/2014/main" id="{1D0D6DFB-43DA-AE64-01A3-EB7A6DBE8454}"/>
              </a:ext>
            </a:extLst>
          </p:cNvPr>
          <p:cNvSpPr/>
          <p:nvPr/>
        </p:nvSpPr>
        <p:spPr>
          <a:xfrm>
            <a:off x="5141357" y="4407694"/>
            <a:ext cx="30480" cy="2561868"/>
          </a:xfrm>
          <a:prstGeom prst="roundRect">
            <a:avLst>
              <a:gd name="adj" fmla="val 111628"/>
            </a:avLst>
          </a:prstGeom>
          <a:solidFill>
            <a:srgbClr val="61646A"/>
          </a:solidFill>
          <a:ln/>
        </p:spPr>
        <p:txBody>
          <a:bodyPr/>
          <a:lstStyle/>
          <a:p>
            <a:endParaRPr lang="es-EC" noProof="0" dirty="0"/>
          </a:p>
        </p:txBody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D4C30D96-4EEE-80F9-E5DE-897B6C5984A1}"/>
              </a:ext>
            </a:extLst>
          </p:cNvPr>
          <p:cNvSpPr/>
          <p:nvPr/>
        </p:nvSpPr>
        <p:spPr>
          <a:xfrm>
            <a:off x="5368171" y="4634508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s-EC" sz="2200" noProof="0" dirty="0">
                <a:solidFill>
                  <a:srgbClr val="D4D4D1"/>
                </a:solidFill>
                <a:latin typeface="IBM Plex Sans Medium"/>
                <a:ea typeface="IBM Plex Sans Medium" pitchFamily="34" charset="-122"/>
                <a:cs typeface="IBM Plex Sans Medium" pitchFamily="34" charset="-120"/>
              </a:rPr>
              <a:t> Excluye</a:t>
            </a:r>
            <a:endParaRPr lang="es-EC" sz="2200" noProof="0" dirty="0">
              <a:latin typeface="IBM Plex Sans Medium"/>
            </a:endParaRPr>
          </a:p>
        </p:txBody>
      </p:sp>
      <p:sp>
        <p:nvSpPr>
          <p:cNvPr id="32" name="Text 12">
            <a:extLst>
              <a:ext uri="{FF2B5EF4-FFF2-40B4-BE49-F238E27FC236}">
                <a16:creationId xmlns:a16="http://schemas.microsoft.com/office/drawing/2014/main" id="{6E51A482-7589-A669-5477-A9C107BABA77}"/>
              </a:ext>
            </a:extLst>
          </p:cNvPr>
          <p:cNvSpPr/>
          <p:nvPr/>
        </p:nvSpPr>
        <p:spPr>
          <a:xfrm>
            <a:off x="5368171" y="5132546"/>
            <a:ext cx="3893939" cy="1610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s-EC" sz="1300" noProof="0" dirty="0">
                <a:solidFill>
                  <a:srgbClr val="D2D2D2"/>
                </a:solidFill>
                <a:latin typeface="Aptos"/>
              </a:rPr>
              <a:t>ERP Integrado</a:t>
            </a:r>
          </a:p>
          <a:p>
            <a:pPr marL="342900" indent="-342900">
              <a:lnSpc>
                <a:spcPts val="2850"/>
              </a:lnSpc>
              <a:buSzPct val="100000"/>
              <a:buFontTx/>
              <a:buChar char="•"/>
            </a:pPr>
            <a:r>
              <a:rPr lang="es-EC" sz="1300" dirty="0">
                <a:solidFill>
                  <a:srgbClr val="D2D2D2"/>
                </a:solidFill>
                <a:latin typeface="Aptos"/>
              </a:rPr>
              <a:t>Automatización total</a:t>
            </a:r>
          </a:p>
          <a:p>
            <a:pPr marL="342900" indent="-342900">
              <a:lnSpc>
                <a:spcPts val="2850"/>
              </a:lnSpc>
              <a:buSzPct val="100000"/>
              <a:buFontTx/>
              <a:buChar char="•"/>
            </a:pPr>
            <a:r>
              <a:rPr lang="es-EC" sz="1300" noProof="0" dirty="0">
                <a:solidFill>
                  <a:srgbClr val="D2D2D2"/>
                </a:solidFill>
                <a:latin typeface="Aptos"/>
              </a:rPr>
              <a:t>Despliegue productivo definitivo</a:t>
            </a:r>
          </a:p>
          <a:p>
            <a:pPr marL="342900" indent="-342900">
              <a:lnSpc>
                <a:spcPts val="2850"/>
              </a:lnSpc>
              <a:buSzPct val="100000"/>
              <a:buFontTx/>
              <a:buChar char="•"/>
            </a:pPr>
            <a:r>
              <a:rPr lang="es-EC" sz="1300" noProof="0" dirty="0">
                <a:solidFill>
                  <a:srgbClr val="D2D2D2"/>
                </a:solidFill>
                <a:latin typeface="Aptos"/>
              </a:rPr>
              <a:t>Predicción para ítems sin histórico suficiente</a:t>
            </a:r>
          </a:p>
        </p:txBody>
      </p:sp>
      <p:sp>
        <p:nvSpPr>
          <p:cNvPr id="34" name="Shape 13">
            <a:extLst>
              <a:ext uri="{FF2B5EF4-FFF2-40B4-BE49-F238E27FC236}">
                <a16:creationId xmlns:a16="http://schemas.microsoft.com/office/drawing/2014/main" id="{26E2B864-6268-70DF-C8E9-C13C83B8BDF5}"/>
              </a:ext>
            </a:extLst>
          </p:cNvPr>
          <p:cNvSpPr/>
          <p:nvPr/>
        </p:nvSpPr>
        <p:spPr>
          <a:xfrm>
            <a:off x="9488924" y="4407694"/>
            <a:ext cx="4347567" cy="2561868"/>
          </a:xfrm>
          <a:prstGeom prst="rect">
            <a:avLst/>
          </a:prstGeom>
          <a:solidFill>
            <a:srgbClr val="484B51"/>
          </a:solidFill>
          <a:ln/>
        </p:spPr>
        <p:txBody>
          <a:bodyPr/>
          <a:lstStyle/>
          <a:p>
            <a:endParaRPr lang="es-EC" noProof="0" dirty="0"/>
          </a:p>
        </p:txBody>
      </p:sp>
      <p:sp>
        <p:nvSpPr>
          <p:cNvPr id="36" name="Shape 14">
            <a:extLst>
              <a:ext uri="{FF2B5EF4-FFF2-40B4-BE49-F238E27FC236}">
                <a16:creationId xmlns:a16="http://schemas.microsoft.com/office/drawing/2014/main" id="{3106FF30-7174-C25F-968B-817323EF9FA4}"/>
              </a:ext>
            </a:extLst>
          </p:cNvPr>
          <p:cNvSpPr/>
          <p:nvPr/>
        </p:nvSpPr>
        <p:spPr>
          <a:xfrm>
            <a:off x="9488924" y="4407694"/>
            <a:ext cx="30480" cy="2561868"/>
          </a:xfrm>
          <a:prstGeom prst="roundRect">
            <a:avLst>
              <a:gd name="adj" fmla="val 111628"/>
            </a:avLst>
          </a:prstGeom>
          <a:solidFill>
            <a:srgbClr val="61646A"/>
          </a:solidFill>
          <a:ln/>
        </p:spPr>
        <p:txBody>
          <a:bodyPr/>
          <a:lstStyle/>
          <a:p>
            <a:endParaRPr lang="es-EC" noProof="0" dirty="0"/>
          </a:p>
        </p:txBody>
      </p:sp>
      <p:sp>
        <p:nvSpPr>
          <p:cNvPr id="38" name="Text 15">
            <a:extLst>
              <a:ext uri="{FF2B5EF4-FFF2-40B4-BE49-F238E27FC236}">
                <a16:creationId xmlns:a16="http://schemas.microsoft.com/office/drawing/2014/main" id="{98E4B04B-3550-1C7B-C69F-80A42CEA3541}"/>
              </a:ext>
            </a:extLst>
          </p:cNvPr>
          <p:cNvSpPr/>
          <p:nvPr/>
        </p:nvSpPr>
        <p:spPr>
          <a:xfrm>
            <a:off x="9715738" y="4634508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s-EC" sz="2200" noProof="0" dirty="0">
                <a:solidFill>
                  <a:srgbClr val="000000"/>
                </a:solidFill>
                <a:latin typeface="IBM Plex Sans Medium"/>
                <a:ea typeface="IBM Plex Sans Medium" pitchFamily="34" charset="-122"/>
                <a:cs typeface="IBM Plex Sans Medium" pitchFamily="34" charset="-120"/>
              </a:rPr>
              <a:t> </a:t>
            </a:r>
            <a:r>
              <a:rPr lang="es-EC" sz="2200" noProof="0" dirty="0">
                <a:solidFill>
                  <a:srgbClr val="D4D4D1"/>
                </a:solidFill>
                <a:latin typeface="IBM Plex Sans Medium"/>
                <a:ea typeface="IBM Plex Sans Medium" pitchFamily="34" charset="-122"/>
                <a:cs typeface="IBM Plex Sans Medium" pitchFamily="34" charset="-120"/>
              </a:rPr>
              <a:t>Limitaciones</a:t>
            </a:r>
            <a:endParaRPr lang="es-EC" sz="2200" noProof="0" dirty="0">
              <a:latin typeface="IBM Plex Sans Medium"/>
            </a:endParaRPr>
          </a:p>
        </p:txBody>
      </p:sp>
      <p:sp>
        <p:nvSpPr>
          <p:cNvPr id="40" name="Text 16">
            <a:extLst>
              <a:ext uri="{FF2B5EF4-FFF2-40B4-BE49-F238E27FC236}">
                <a16:creationId xmlns:a16="http://schemas.microsoft.com/office/drawing/2014/main" id="{14B9AD1F-8A3A-3778-26B5-2D8625E8D95E}"/>
              </a:ext>
            </a:extLst>
          </p:cNvPr>
          <p:cNvSpPr/>
          <p:nvPr/>
        </p:nvSpPr>
        <p:spPr>
          <a:xfrm>
            <a:off x="9715738" y="5132546"/>
            <a:ext cx="3893939" cy="1610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s-EC" sz="1300" noProof="0" dirty="0">
                <a:solidFill>
                  <a:srgbClr val="D2D2D2"/>
                </a:solidFill>
                <a:latin typeface="Aptos"/>
              </a:rPr>
              <a:t>Histórico transaccional moderado</a:t>
            </a:r>
            <a:endParaRPr lang="es-EC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s-EC" sz="1300" noProof="0" dirty="0">
                <a:solidFill>
                  <a:srgbClr val="D2D2D2"/>
                </a:solidFill>
                <a:latin typeface="Aptos"/>
              </a:rPr>
              <a:t>Dependencia de calidad del Kardex</a:t>
            </a: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s-EC" sz="1300" noProof="0" dirty="0">
                <a:solidFill>
                  <a:srgbClr val="D2D2D2"/>
                </a:solidFill>
                <a:latin typeface="Aptos"/>
              </a:rPr>
              <a:t>Ausencia de variables externas</a:t>
            </a: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s-EC" sz="1300" noProof="0" dirty="0">
                <a:solidFill>
                  <a:srgbClr val="D2D2D2"/>
                </a:solidFill>
                <a:latin typeface="Aptos"/>
              </a:rPr>
              <a:t>Uso inicial como MVP de apoyo a decisión</a:t>
            </a:r>
          </a:p>
        </p:txBody>
      </p:sp>
    </p:spTree>
    <p:extLst>
      <p:ext uri="{BB962C8B-B14F-4D97-AF65-F5344CB8AC3E}">
        <p14:creationId xmlns:p14="http://schemas.microsoft.com/office/powerpoint/2010/main" val="115097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>
            <a:extLst>
              <a:ext uri="{FF2B5EF4-FFF2-40B4-BE49-F238E27FC236}">
                <a16:creationId xmlns:a16="http://schemas.microsoft.com/office/drawing/2014/main" id="{6E45CF03-DC13-5469-40E3-A12D91D732CB}"/>
              </a:ext>
            </a:extLst>
          </p:cNvPr>
          <p:cNvSpPr/>
          <p:nvPr/>
        </p:nvSpPr>
        <p:spPr>
          <a:xfrm>
            <a:off x="1255157" y="483037"/>
            <a:ext cx="880467" cy="304681"/>
          </a:xfrm>
          <a:prstGeom prst="roundRect">
            <a:avLst>
              <a:gd name="adj" fmla="val 6918"/>
            </a:avLst>
          </a:prstGeom>
          <a:solidFill>
            <a:srgbClr val="CC0000"/>
          </a:solidFill>
          <a:ln/>
        </p:spPr>
        <p:txBody>
          <a:bodyPr/>
          <a:lstStyle/>
          <a:p>
            <a:endParaRPr lang="es-EC" noProof="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1CAC875E-2E4B-EB13-3304-B56C5CD5FF07}"/>
              </a:ext>
            </a:extLst>
          </p:cNvPr>
          <p:cNvSpPr/>
          <p:nvPr/>
        </p:nvSpPr>
        <p:spPr>
          <a:xfrm>
            <a:off x="1360527" y="535662"/>
            <a:ext cx="669727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s-EC" sz="1100" noProof="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SOLUCIÓN</a:t>
            </a:r>
            <a:endParaRPr lang="es-EC" sz="1100" noProof="0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155AE7B4-A462-15D3-19C3-1E0B7B38E5AA}"/>
              </a:ext>
            </a:extLst>
          </p:cNvPr>
          <p:cNvSpPr/>
          <p:nvPr/>
        </p:nvSpPr>
        <p:spPr>
          <a:xfrm>
            <a:off x="1255157" y="842010"/>
            <a:ext cx="6857881" cy="548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s-EC" sz="3450" noProof="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Análisis y Selección de la Solución</a:t>
            </a:r>
            <a:endParaRPr lang="es-EC" sz="3450" noProof="0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444798E2-3606-157E-6A0F-7E49002BA2A8}"/>
              </a:ext>
            </a:extLst>
          </p:cNvPr>
          <p:cNvSpPr/>
          <p:nvPr/>
        </p:nvSpPr>
        <p:spPr>
          <a:xfrm>
            <a:off x="1274642" y="1747838"/>
            <a:ext cx="2297787" cy="274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s-EC" sz="1700" noProof="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Alternativas Evaluadas</a:t>
            </a:r>
            <a:endParaRPr lang="es-EC" sz="1700" noProof="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6F1AF356-4AF8-5990-7261-28A9308BE4C9}"/>
              </a:ext>
            </a:extLst>
          </p:cNvPr>
          <p:cNvSpPr/>
          <p:nvPr/>
        </p:nvSpPr>
        <p:spPr>
          <a:xfrm>
            <a:off x="1274642" y="2326897"/>
            <a:ext cx="5845850" cy="498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s-EC" sz="1200" noProof="0" dirty="0">
                <a:solidFill>
                  <a:srgbClr val="D2D2D2"/>
                </a:solidFill>
                <a:latin typeface="Aptos"/>
              </a:rPr>
              <a:t>Baseline</a:t>
            </a:r>
            <a:endParaRPr lang="es-EC" sz="1350" noProof="0" dirty="0"/>
          </a:p>
          <a:p>
            <a:r>
              <a:rPr lang="es-EC" sz="1200" noProof="0" dirty="0">
                <a:solidFill>
                  <a:srgbClr val="D2D2D2"/>
                </a:solidFill>
                <a:latin typeface="Aptos"/>
              </a:rPr>
              <a:t>Random Forest</a:t>
            </a:r>
          </a:p>
          <a:p>
            <a:r>
              <a:rPr lang="es-EC" sz="1200" noProof="0" dirty="0">
                <a:solidFill>
                  <a:srgbClr val="D2D2D2"/>
                </a:solidFill>
                <a:latin typeface="Aptos"/>
              </a:rPr>
              <a:t>XGBoost</a:t>
            </a:r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C9906026-E58C-95A2-2F96-16F77D7C7AC5}"/>
              </a:ext>
            </a:extLst>
          </p:cNvPr>
          <p:cNvSpPr/>
          <p:nvPr/>
        </p:nvSpPr>
        <p:spPr>
          <a:xfrm>
            <a:off x="1247537" y="3323690"/>
            <a:ext cx="2195632" cy="274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s-EC" sz="1700" noProof="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Criterios de Selección</a:t>
            </a:r>
            <a:endParaRPr lang="es-EC" sz="1700" noProof="0" dirty="0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7D4B251E-A634-E5F1-55FF-96F416335D15}"/>
              </a:ext>
            </a:extLst>
          </p:cNvPr>
          <p:cNvSpPr/>
          <p:nvPr/>
        </p:nvSpPr>
        <p:spPr>
          <a:xfrm>
            <a:off x="1274642" y="3705881"/>
            <a:ext cx="5845850" cy="498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s-EC" sz="1100" noProof="0" dirty="0">
                <a:solidFill>
                  <a:srgbClr val="D2D2D2"/>
                </a:solidFill>
                <a:latin typeface="Aptos"/>
              </a:rPr>
              <a:t>MAE, RMSE y R²</a:t>
            </a:r>
            <a:endParaRPr lang="es-EC" sz="1350" noProof="0" dirty="0"/>
          </a:p>
          <a:p>
            <a:r>
              <a:rPr lang="es-EC" sz="1100" noProof="0" dirty="0">
                <a:solidFill>
                  <a:srgbClr val="D2D2D2"/>
                </a:solidFill>
                <a:latin typeface="Aptos"/>
              </a:rPr>
              <a:t>Validación hold-out y walk-forward</a:t>
            </a:r>
          </a:p>
          <a:p>
            <a:r>
              <a:rPr lang="es-EC" sz="1100" noProof="0" dirty="0">
                <a:solidFill>
                  <a:srgbClr val="D2D2D2"/>
                </a:solidFill>
                <a:latin typeface="Aptos"/>
              </a:rPr>
              <a:t>Interpretabilidad y adopción operativa</a:t>
            </a:r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07CDEB06-1C86-958B-CD36-0BB032AE4472}"/>
              </a:ext>
            </a:extLst>
          </p:cNvPr>
          <p:cNvSpPr/>
          <p:nvPr/>
        </p:nvSpPr>
        <p:spPr>
          <a:xfrm>
            <a:off x="1215333" y="4614674"/>
            <a:ext cx="2419112" cy="274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s-EC" sz="1700" noProof="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Propuesta Seleccionada</a:t>
            </a:r>
            <a:endParaRPr lang="es-EC" sz="1700" noProof="0" dirty="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0620660F-BE3E-A818-F2EA-92C27BA838A6}"/>
              </a:ext>
            </a:extLst>
          </p:cNvPr>
          <p:cNvSpPr/>
          <p:nvPr/>
        </p:nvSpPr>
        <p:spPr>
          <a:xfrm>
            <a:off x="1283495" y="5174911"/>
            <a:ext cx="5845850" cy="249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s-EC" sz="1100" noProof="0" dirty="0">
                <a:solidFill>
                  <a:srgbClr val="D2D2D2"/>
                </a:solidFill>
                <a:latin typeface="Aptos"/>
              </a:rPr>
              <a:t>Baseline como motor principal.</a:t>
            </a:r>
            <a:endParaRPr lang="es-EC" sz="1350" noProof="0" dirty="0"/>
          </a:p>
          <a:p>
            <a:r>
              <a:rPr lang="es-EC" sz="1100" noProof="0" dirty="0">
                <a:solidFill>
                  <a:srgbClr val="D2D2D2"/>
                </a:solidFill>
                <a:latin typeface="Aptos"/>
              </a:rPr>
              <a:t>Random Forest como referencia experimental interpretable.</a:t>
            </a:r>
          </a:p>
        </p:txBody>
      </p:sp>
      <p:pic>
        <p:nvPicPr>
          <p:cNvPr id="24" name="Image 0" descr="preencoded.png">
            <a:extLst>
              <a:ext uri="{FF2B5EF4-FFF2-40B4-BE49-F238E27FC236}">
                <a16:creationId xmlns:a16="http://schemas.microsoft.com/office/drawing/2014/main" id="{9FB723D4-5A07-2481-14FF-687FFAB52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7013" y="1747838"/>
            <a:ext cx="5845850" cy="5845850"/>
          </a:xfrm>
          <a:prstGeom prst="rect">
            <a:avLst/>
          </a:prstGeom>
        </p:spPr>
      </p:pic>
      <p:pic>
        <p:nvPicPr>
          <p:cNvPr id="26" name="Image 1" descr="preencoded.png">
            <a:extLst>
              <a:ext uri="{FF2B5EF4-FFF2-40B4-BE49-F238E27FC236}">
                <a16:creationId xmlns:a16="http://schemas.microsoft.com/office/drawing/2014/main" id="{F44B7708-666D-B50B-784C-1F9C04F87D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9413" y="1900238"/>
            <a:ext cx="5845850" cy="5845850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7689412" y="2145227"/>
            <a:ext cx="2521387" cy="539358"/>
          </a:xfrm>
          <a:prstGeom prst="roundRect">
            <a:avLst/>
          </a:prstGeom>
          <a:solidFill>
            <a:srgbClr val="2D3137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s-EC" sz="1500" noProof="0" dirty="0">
                <a:solidFill>
                  <a:srgbClr val="FFFFFF"/>
                </a:solidFill>
                <a:latin typeface="Aptos"/>
              </a:rPr>
              <a:t>RANDOM FOREST REGRESSOR</a:t>
            </a:r>
          </a:p>
        </p:txBody>
      </p:sp>
      <p:sp>
        <p:nvSpPr>
          <p:cNvPr id="2" name="Rounded Rectangle 26">
            <a:extLst>
              <a:ext uri="{FF2B5EF4-FFF2-40B4-BE49-F238E27FC236}">
                <a16:creationId xmlns:a16="http://schemas.microsoft.com/office/drawing/2014/main" id="{33CE432B-7491-1637-A0B6-46A8886BC2AB}"/>
              </a:ext>
            </a:extLst>
          </p:cNvPr>
          <p:cNvSpPr/>
          <p:nvPr/>
        </p:nvSpPr>
        <p:spPr>
          <a:xfrm>
            <a:off x="10646805" y="2145227"/>
            <a:ext cx="2521387" cy="539358"/>
          </a:xfrm>
          <a:prstGeom prst="roundRect">
            <a:avLst/>
          </a:prstGeom>
          <a:solidFill>
            <a:srgbClr val="2D3137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s-EC" sz="1500" noProof="0" dirty="0">
                <a:solidFill>
                  <a:srgbClr val="FFFFFF"/>
                </a:solidFill>
                <a:latin typeface="Aptos"/>
              </a:rPr>
              <a:t>XGBOOST REGRESSOR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BE5259E-8150-526A-1C9E-C66C35BB27EC}"/>
              </a:ext>
            </a:extLst>
          </p:cNvPr>
          <p:cNvSpPr txBox="1"/>
          <p:nvPr/>
        </p:nvSpPr>
        <p:spPr>
          <a:xfrm>
            <a:off x="7945672" y="6672124"/>
            <a:ext cx="5028531" cy="830997"/>
          </a:xfrm>
          <a:prstGeom prst="rect">
            <a:avLst/>
          </a:prstGeom>
          <a:solidFill>
            <a:srgbClr val="2A2C3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C" sz="1600" b="1" noProof="0" dirty="0"/>
              <a:t>Criterios evaluados:</a:t>
            </a:r>
            <a:r>
              <a:rPr lang="es-EC" sz="1600" noProof="0" dirty="0"/>
              <a:t> precisión · robustez · interpretabilidad · mantenibilidad · sensibilidad a hiperparámetros · viabilidad operativa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0AA0A9B-CE00-F12E-DE97-10F4F6EDF917}"/>
              </a:ext>
            </a:extLst>
          </p:cNvPr>
          <p:cNvSpPr txBox="1"/>
          <p:nvPr/>
        </p:nvSpPr>
        <p:spPr>
          <a:xfrm>
            <a:off x="7778533" y="5467290"/>
            <a:ext cx="2681404" cy="1092607"/>
          </a:xfrm>
          <a:prstGeom prst="rect">
            <a:avLst/>
          </a:prstGeom>
          <a:solidFill>
            <a:srgbClr val="2A2C31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Trade Gothic Next Light" panose="020B0403040303020004" pitchFamily="34" charset="0"/>
              <a:buChar char="–"/>
            </a:pPr>
            <a:r>
              <a:rPr lang="es-EC" sz="1300" b="1" noProof="0" dirty="0"/>
              <a:t>MAE: 2.178</a:t>
            </a:r>
          </a:p>
          <a:p>
            <a:pPr marL="285750" indent="-285750">
              <a:buFont typeface="Trade Gothic Next Light" panose="020B0403040303020004" pitchFamily="34" charset="0"/>
              <a:buChar char="–"/>
            </a:pPr>
            <a:r>
              <a:rPr lang="es-EC" sz="1300" b="1" noProof="0" dirty="0"/>
              <a:t>RMSE: 4.139</a:t>
            </a:r>
          </a:p>
          <a:p>
            <a:pPr marL="285750" indent="-285750">
              <a:buFont typeface="Trade Gothic Next Light" panose="020B0403040303020004" pitchFamily="34" charset="0"/>
              <a:buChar char="–"/>
            </a:pPr>
            <a:r>
              <a:rPr lang="es-EC" sz="1300" b="1" noProof="0" dirty="0"/>
              <a:t>R²: 0.241</a:t>
            </a:r>
          </a:p>
          <a:p>
            <a:pPr marL="285750" indent="-285750">
              <a:buFont typeface="Trade Gothic Next Light" panose="020B0403040303020004" pitchFamily="34" charset="0"/>
              <a:buChar char="–"/>
            </a:pPr>
            <a:r>
              <a:rPr lang="es-EC" sz="1300" b="1" noProof="0" dirty="0"/>
              <a:t>Interpretable con SHAP</a:t>
            </a:r>
          </a:p>
          <a:p>
            <a:pPr marL="285750" indent="-285750">
              <a:buFont typeface="Trade Gothic Next Light" panose="020B0403040303020004" pitchFamily="34" charset="0"/>
              <a:buChar char="–"/>
            </a:pPr>
            <a:r>
              <a:rPr lang="es-EC" sz="1300" b="1" noProof="0" dirty="0"/>
              <a:t>Robusto en datos medianos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EF0867A-48CD-4A06-484F-4143DD4885B0}"/>
              </a:ext>
            </a:extLst>
          </p:cNvPr>
          <p:cNvSpPr txBox="1"/>
          <p:nvPr/>
        </p:nvSpPr>
        <p:spPr>
          <a:xfrm>
            <a:off x="10508811" y="5467290"/>
            <a:ext cx="2825178" cy="1092607"/>
          </a:xfrm>
          <a:prstGeom prst="rect">
            <a:avLst/>
          </a:prstGeom>
          <a:solidFill>
            <a:srgbClr val="2A2C31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Trade Gothic Next Light" panose="020B0403040303020004" pitchFamily="34" charset="0"/>
              <a:buChar char="–"/>
            </a:pPr>
            <a:r>
              <a:rPr lang="es-EC" sz="1300" b="1" noProof="0" dirty="0"/>
              <a:t>MAE: 2.559</a:t>
            </a:r>
          </a:p>
          <a:p>
            <a:pPr marL="285750" indent="-285750">
              <a:buFont typeface="Trade Gothic Next Light" panose="020B0403040303020004" pitchFamily="34" charset="0"/>
              <a:buChar char="–"/>
            </a:pPr>
            <a:r>
              <a:rPr lang="es-EC" sz="1300" b="1" noProof="0" dirty="0"/>
              <a:t>RMSE: 4.148</a:t>
            </a:r>
          </a:p>
          <a:p>
            <a:pPr marL="285750" indent="-285750">
              <a:buFont typeface="Trade Gothic Next Light" panose="020B0403040303020004" pitchFamily="34" charset="0"/>
              <a:buChar char="–"/>
            </a:pPr>
            <a:r>
              <a:rPr lang="es-EC" sz="1300" b="1" noProof="0" dirty="0"/>
              <a:t>R²: 0.238</a:t>
            </a:r>
          </a:p>
          <a:p>
            <a:pPr marL="285750" indent="-285750">
              <a:buFont typeface="Trade Gothic Next Light" panose="020B0403040303020004" pitchFamily="34" charset="0"/>
              <a:buChar char="–"/>
            </a:pPr>
            <a:r>
              <a:rPr lang="es-EC" sz="1300" b="1" noProof="0" dirty="0"/>
              <a:t>Mayor ajuste de hiperparámetros</a:t>
            </a:r>
          </a:p>
          <a:p>
            <a:pPr marL="285750" indent="-285750">
              <a:buFont typeface="Trade Gothic Next Light" panose="020B0403040303020004" pitchFamily="34" charset="0"/>
              <a:buChar char="–"/>
            </a:pPr>
            <a:r>
              <a:rPr lang="es-EC" sz="1300" b="1" noProof="0" dirty="0"/>
              <a:t>Mayor sensibilidad al dataset</a:t>
            </a:r>
          </a:p>
        </p:txBody>
      </p:sp>
    </p:spTree>
    <p:extLst>
      <p:ext uri="{BB962C8B-B14F-4D97-AF65-F5344CB8AC3E}">
        <p14:creationId xmlns:p14="http://schemas.microsoft.com/office/powerpoint/2010/main" val="1714215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4AEAA-0E5C-D0A1-7BA4-CBE48BF59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>
            <a:extLst>
              <a:ext uri="{FF2B5EF4-FFF2-40B4-BE49-F238E27FC236}">
                <a16:creationId xmlns:a16="http://schemas.microsoft.com/office/drawing/2014/main" id="{F35114AC-B917-29FA-31EF-40648610423A}"/>
              </a:ext>
            </a:extLst>
          </p:cNvPr>
          <p:cNvSpPr/>
          <p:nvPr/>
        </p:nvSpPr>
        <p:spPr>
          <a:xfrm>
            <a:off x="1255157" y="483037"/>
            <a:ext cx="880467" cy="304681"/>
          </a:xfrm>
          <a:prstGeom prst="roundRect">
            <a:avLst>
              <a:gd name="adj" fmla="val 6918"/>
            </a:avLst>
          </a:prstGeom>
          <a:solidFill>
            <a:srgbClr val="CC0000"/>
          </a:solidFill>
          <a:ln/>
        </p:spPr>
        <p:txBody>
          <a:bodyPr/>
          <a:lstStyle/>
          <a:p>
            <a:endParaRPr lang="es-EC" noProof="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DB81640E-E669-2DBE-28D0-D6692FA61172}"/>
              </a:ext>
            </a:extLst>
          </p:cNvPr>
          <p:cNvSpPr/>
          <p:nvPr/>
        </p:nvSpPr>
        <p:spPr>
          <a:xfrm>
            <a:off x="1360527" y="535662"/>
            <a:ext cx="669727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s-EC" sz="1100" noProof="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SOLUCIÓN</a:t>
            </a:r>
            <a:endParaRPr lang="es-EC" sz="1100" noProof="0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D9139CF8-799C-B788-F953-5C89A1F2E0A5}"/>
              </a:ext>
            </a:extLst>
          </p:cNvPr>
          <p:cNvSpPr/>
          <p:nvPr/>
        </p:nvSpPr>
        <p:spPr>
          <a:xfrm>
            <a:off x="1255157" y="842010"/>
            <a:ext cx="6857881" cy="548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s-EC" sz="3450" noProof="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Análisis y Selección de la Solución PRUEBA</a:t>
            </a:r>
            <a:endParaRPr lang="es-EC" sz="3450" noProof="0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0D9CB93A-C688-70F6-0EAB-67F7F7C8B20A}"/>
              </a:ext>
            </a:extLst>
          </p:cNvPr>
          <p:cNvSpPr/>
          <p:nvPr/>
        </p:nvSpPr>
        <p:spPr>
          <a:xfrm>
            <a:off x="1274642" y="1747838"/>
            <a:ext cx="2297787" cy="274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s-EC" sz="1700" noProof="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Alternativas Evaluadas</a:t>
            </a:r>
            <a:endParaRPr lang="es-EC" sz="1700" noProof="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D763EB24-86F6-240E-C530-C33B1F79042B}"/>
              </a:ext>
            </a:extLst>
          </p:cNvPr>
          <p:cNvSpPr/>
          <p:nvPr/>
        </p:nvSpPr>
        <p:spPr>
          <a:xfrm>
            <a:off x="1255157" y="2217382"/>
            <a:ext cx="2683209" cy="666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s-EC" sz="1400" noProof="0" dirty="0">
                <a:solidFill>
                  <a:srgbClr val="D2D2D2"/>
                </a:solidFill>
                <a:latin typeface="Aptos"/>
              </a:rPr>
              <a:t>Baseline</a:t>
            </a:r>
            <a:endParaRPr lang="es-EC" sz="1400" noProof="0" dirty="0"/>
          </a:p>
          <a:p>
            <a:r>
              <a:rPr lang="es-EC" sz="1400" noProof="0" dirty="0">
                <a:solidFill>
                  <a:srgbClr val="D2D2D2"/>
                </a:solidFill>
                <a:latin typeface="Aptos"/>
              </a:rPr>
              <a:t>Random Forest</a:t>
            </a:r>
          </a:p>
          <a:p>
            <a:r>
              <a:rPr lang="es-EC" sz="1400" noProof="0" dirty="0">
                <a:solidFill>
                  <a:srgbClr val="D2D2D2"/>
                </a:solidFill>
                <a:latin typeface="Aptos"/>
              </a:rPr>
              <a:t>XGBoost</a:t>
            </a:r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8D2E3267-9800-1CD4-F9EE-3BC23CBD2CDD}"/>
              </a:ext>
            </a:extLst>
          </p:cNvPr>
          <p:cNvSpPr/>
          <p:nvPr/>
        </p:nvSpPr>
        <p:spPr>
          <a:xfrm>
            <a:off x="1243983" y="3134046"/>
            <a:ext cx="2195632" cy="274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s-EC" sz="1700" noProof="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Criterios de Selección</a:t>
            </a:r>
            <a:endParaRPr lang="es-EC" sz="1700" noProof="0" dirty="0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ECD36740-A53C-F16E-52F4-DDF6992F9C2A}"/>
              </a:ext>
            </a:extLst>
          </p:cNvPr>
          <p:cNvSpPr/>
          <p:nvPr/>
        </p:nvSpPr>
        <p:spPr>
          <a:xfrm>
            <a:off x="1248852" y="3614926"/>
            <a:ext cx="3201824" cy="588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s-EC" sz="1400" noProof="0" dirty="0">
                <a:solidFill>
                  <a:srgbClr val="D2D2D2"/>
                </a:solidFill>
                <a:latin typeface="Aptos"/>
              </a:rPr>
              <a:t>MAE, RMSE y R²</a:t>
            </a:r>
            <a:endParaRPr lang="es-EC" sz="1400" noProof="0" dirty="0"/>
          </a:p>
          <a:p>
            <a:r>
              <a:rPr lang="es-EC" sz="1400" noProof="0" dirty="0">
                <a:solidFill>
                  <a:srgbClr val="D2D2D2"/>
                </a:solidFill>
                <a:latin typeface="Aptos"/>
              </a:rPr>
              <a:t>Validación hold-out y walk-forward</a:t>
            </a:r>
          </a:p>
          <a:p>
            <a:r>
              <a:rPr lang="es-EC" sz="1400" noProof="0" dirty="0">
                <a:solidFill>
                  <a:srgbClr val="D2D2D2"/>
                </a:solidFill>
                <a:latin typeface="Aptos"/>
              </a:rPr>
              <a:t>Interpretabilidad y adopción operativa</a:t>
            </a:r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E42838D2-4870-489E-1789-426051DA7055}"/>
              </a:ext>
            </a:extLst>
          </p:cNvPr>
          <p:cNvSpPr/>
          <p:nvPr/>
        </p:nvSpPr>
        <p:spPr>
          <a:xfrm>
            <a:off x="1274642" y="4626554"/>
            <a:ext cx="2419112" cy="274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s-EC" sz="1700" noProof="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Propuesta Seleccionada</a:t>
            </a:r>
            <a:endParaRPr lang="es-EC" sz="1700" noProof="0" dirty="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E4D65135-7E57-4851-706D-FC5B31E95C98}"/>
              </a:ext>
            </a:extLst>
          </p:cNvPr>
          <p:cNvSpPr/>
          <p:nvPr/>
        </p:nvSpPr>
        <p:spPr>
          <a:xfrm>
            <a:off x="1274642" y="5081696"/>
            <a:ext cx="4448565" cy="816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s-EC" sz="1400" noProof="0" dirty="0">
                <a:solidFill>
                  <a:srgbClr val="D2D2D2"/>
                </a:solidFill>
                <a:latin typeface="Aptos"/>
              </a:rPr>
              <a:t>Baseline como motor principal.</a:t>
            </a:r>
            <a:endParaRPr lang="es-EC" sz="1400" noProof="0" dirty="0"/>
          </a:p>
          <a:p>
            <a:r>
              <a:rPr lang="es-EC" sz="1400" noProof="0" dirty="0">
                <a:solidFill>
                  <a:srgbClr val="D2D2D2"/>
                </a:solidFill>
                <a:latin typeface="Aptos"/>
              </a:rPr>
              <a:t>Random Forest como referencia experimental interpretable.</a:t>
            </a: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DBAF66F2-D351-3AC9-4D9C-80019D3BA6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278" y="1500014"/>
            <a:ext cx="7049923" cy="5373293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0FFC4706-3738-56E5-DFF8-86A291AEBB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488" y="6982433"/>
            <a:ext cx="12719713" cy="947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282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>
            <a:extLst>
              <a:ext uri="{FF2B5EF4-FFF2-40B4-BE49-F238E27FC236}">
                <a16:creationId xmlns:a16="http://schemas.microsoft.com/office/drawing/2014/main" id="{F0BC28D4-6768-B7AB-E2F7-84CED5598B81}"/>
              </a:ext>
            </a:extLst>
          </p:cNvPr>
          <p:cNvSpPr/>
          <p:nvPr/>
        </p:nvSpPr>
        <p:spPr>
          <a:xfrm>
            <a:off x="1718667" y="478631"/>
            <a:ext cx="1125379" cy="275153"/>
          </a:xfrm>
          <a:prstGeom prst="roundRect">
            <a:avLst>
              <a:gd name="adj" fmla="val 7075"/>
            </a:avLst>
          </a:prstGeom>
          <a:solidFill>
            <a:srgbClr val="CC0000"/>
          </a:solidFill>
          <a:ln/>
        </p:spPr>
        <p:txBody>
          <a:bodyPr/>
          <a:lstStyle/>
          <a:p>
            <a:endParaRPr lang="es-EC" noProof="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BF3D2631-606A-C8E2-7AF0-545F8875B4C9}"/>
              </a:ext>
            </a:extLst>
          </p:cNvPr>
          <p:cNvSpPr/>
          <p:nvPr/>
        </p:nvSpPr>
        <p:spPr>
          <a:xfrm>
            <a:off x="1815941" y="527209"/>
            <a:ext cx="930831" cy="177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s-EC" sz="1000" noProof="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ARQUITECTURA</a:t>
            </a:r>
            <a:endParaRPr lang="es-EC" sz="1000" noProof="0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F284B138-6DDD-5202-F2A7-F86CCF3287CE}"/>
              </a:ext>
            </a:extLst>
          </p:cNvPr>
          <p:cNvSpPr/>
          <p:nvPr/>
        </p:nvSpPr>
        <p:spPr>
          <a:xfrm>
            <a:off x="1718667" y="800100"/>
            <a:ext cx="4838462" cy="506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s-EC" sz="3150" noProof="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Arquitectura del Prototipo</a:t>
            </a:r>
            <a:endParaRPr lang="es-EC" sz="3150" noProof="0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BE40BAB9-04E1-13B2-7CC4-7102AF2ABD71}"/>
              </a:ext>
            </a:extLst>
          </p:cNvPr>
          <p:cNvSpPr/>
          <p:nvPr/>
        </p:nvSpPr>
        <p:spPr>
          <a:xfrm>
            <a:off x="1718667" y="1353264"/>
            <a:ext cx="2127647" cy="253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s-EC" sz="1500" b="1" noProof="0" dirty="0">
                <a:solidFill>
                  <a:srgbClr val="D2D2D2"/>
                </a:solidFill>
                <a:latin typeface="Aptos"/>
              </a:rPr>
              <a:t>NovaPet Inventario IA</a:t>
            </a:r>
            <a:endParaRPr lang="es-EC" sz="1550" noProof="0" dirty="0"/>
          </a:p>
        </p:txBody>
      </p:sp>
      <p:pic>
        <p:nvPicPr>
          <p:cNvPr id="14" name="Image 0" descr="preencoded.png">
            <a:extLst>
              <a:ext uri="{FF2B5EF4-FFF2-40B4-BE49-F238E27FC236}">
                <a16:creationId xmlns:a16="http://schemas.microsoft.com/office/drawing/2014/main" id="{B1BA936D-D90E-6C2D-9AC2-41B21C219E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302" y="1780580"/>
            <a:ext cx="10185678" cy="5394960"/>
          </a:xfrm>
          <a:prstGeom prst="rect">
            <a:avLst/>
          </a:prstGeom>
        </p:spPr>
      </p:pic>
      <p:sp>
        <p:nvSpPr>
          <p:cNvPr id="16" name="Text 4">
            <a:extLst>
              <a:ext uri="{FF2B5EF4-FFF2-40B4-BE49-F238E27FC236}">
                <a16:creationId xmlns:a16="http://schemas.microsoft.com/office/drawing/2014/main" id="{0C1B0CAA-3E86-7272-5094-8CE83C26BC97}"/>
              </a:ext>
            </a:extLst>
          </p:cNvPr>
          <p:cNvSpPr/>
          <p:nvPr/>
        </p:nvSpPr>
        <p:spPr>
          <a:xfrm>
            <a:off x="2676659" y="2483456"/>
            <a:ext cx="2518393" cy="31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50"/>
              </a:lnSpc>
              <a:buNone/>
            </a:pPr>
            <a:r>
              <a:rPr lang="es-EC" sz="1950" noProof="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Ingreso de datos</a:t>
            </a:r>
            <a:endParaRPr lang="es-EC" sz="1950" noProof="0" dirty="0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C2048378-8D8A-7AD8-9320-9F7C3E5767E2}"/>
              </a:ext>
            </a:extLst>
          </p:cNvPr>
          <p:cNvSpPr/>
          <p:nvPr/>
        </p:nvSpPr>
        <p:spPr>
          <a:xfrm>
            <a:off x="2497574" y="2887798"/>
            <a:ext cx="2697479" cy="43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700"/>
              </a:lnSpc>
              <a:buNone/>
            </a:pPr>
            <a:r>
              <a:rPr lang="es-EC" sz="1100" noProof="0" dirty="0">
                <a:solidFill>
                  <a:srgbClr val="D2D2D2"/>
                </a:solidFill>
                <a:latin typeface="Aptos"/>
              </a:rPr>
              <a:t>Kardex histórico: movimientos, productos, categorías y consumos.</a:t>
            </a:r>
            <a:endParaRPr lang="es-EC" sz="1550" noProof="0" dirty="0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AD059380-41F6-35E8-7213-F2858E203E18}"/>
              </a:ext>
            </a:extLst>
          </p:cNvPr>
          <p:cNvSpPr/>
          <p:nvPr/>
        </p:nvSpPr>
        <p:spPr>
          <a:xfrm>
            <a:off x="8478363" y="2684054"/>
            <a:ext cx="2518393" cy="31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50"/>
              </a:lnSpc>
              <a:buNone/>
            </a:pPr>
            <a:r>
              <a:rPr lang="es-EC" sz="1950" noProof="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Preprocesamiento</a:t>
            </a:r>
            <a:endParaRPr lang="es-EC" sz="1950" noProof="0" dirty="0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1C827DF7-9A83-3B69-D5CE-DC595AA9304B}"/>
              </a:ext>
            </a:extLst>
          </p:cNvPr>
          <p:cNvSpPr/>
          <p:nvPr/>
        </p:nvSpPr>
        <p:spPr>
          <a:xfrm>
            <a:off x="8299277" y="3088396"/>
            <a:ext cx="2697479" cy="43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700"/>
              </a:lnSpc>
              <a:buNone/>
            </a:pPr>
            <a:r>
              <a:rPr lang="es-EC" sz="1100" noProof="0" dirty="0">
                <a:solidFill>
                  <a:srgbClr val="D2D2D2"/>
                </a:solidFill>
                <a:latin typeface="Aptos"/>
              </a:rPr>
              <a:t>Limpieza, estandarización y consolidación semanal por ítem.</a:t>
            </a:r>
            <a:endParaRPr lang="es-EC" sz="1550" noProof="0" dirty="0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D256C941-B04E-8670-33DD-7EE010FB27E0}"/>
              </a:ext>
            </a:extLst>
          </p:cNvPr>
          <p:cNvSpPr/>
          <p:nvPr/>
        </p:nvSpPr>
        <p:spPr>
          <a:xfrm>
            <a:off x="3391955" y="5784455"/>
            <a:ext cx="2518393" cy="31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s-EC" sz="1950" noProof="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Modelado con IA</a:t>
            </a:r>
            <a:endParaRPr lang="es-EC" sz="1950" noProof="0" dirty="0"/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F542D171-A764-687C-9D81-CDE927AC75ED}"/>
              </a:ext>
            </a:extLst>
          </p:cNvPr>
          <p:cNvSpPr/>
          <p:nvPr/>
        </p:nvSpPr>
        <p:spPr>
          <a:xfrm>
            <a:off x="3391955" y="6188797"/>
            <a:ext cx="2697479" cy="43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s-EC" sz="1100" noProof="0" dirty="0">
                <a:solidFill>
                  <a:srgbClr val="D2D2D2"/>
                </a:solidFill>
                <a:latin typeface="Aptos"/>
              </a:rPr>
              <a:t>Baseline, Random Forest y XGBoost con lags, promedio móvil y tendencia.</a:t>
            </a:r>
            <a:endParaRPr lang="es-EC" sz="1550" noProof="0" dirty="0"/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D6CB0D7A-B062-F097-963F-A7D2BD896DF0}"/>
              </a:ext>
            </a:extLst>
          </p:cNvPr>
          <p:cNvSpPr/>
          <p:nvPr/>
        </p:nvSpPr>
        <p:spPr>
          <a:xfrm>
            <a:off x="9464036" y="5636520"/>
            <a:ext cx="2518393" cy="31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s-EC" sz="1950" noProof="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Despliegue</a:t>
            </a:r>
            <a:endParaRPr lang="es-EC" sz="1950" noProof="0" dirty="0"/>
          </a:p>
        </p:txBody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DEC1E852-046B-8EEA-8575-CF9BE550B7A8}"/>
              </a:ext>
            </a:extLst>
          </p:cNvPr>
          <p:cNvSpPr/>
          <p:nvPr/>
        </p:nvSpPr>
        <p:spPr>
          <a:xfrm>
            <a:off x="9464036" y="6040862"/>
            <a:ext cx="2697478" cy="43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s-EC" sz="1100" noProof="0" dirty="0">
                <a:solidFill>
                  <a:srgbClr val="D2D2D2"/>
                </a:solidFill>
                <a:latin typeface="Aptos"/>
              </a:rPr>
              <a:t>Streamlit: predicción, stock objetivo, compra sugerida y riesgo.</a:t>
            </a:r>
            <a:endParaRPr lang="es-EC" sz="1550" noProof="0" dirty="0"/>
          </a:p>
        </p:txBody>
      </p:sp>
      <p:sp>
        <p:nvSpPr>
          <p:cNvPr id="32" name="Text 12">
            <a:extLst>
              <a:ext uri="{FF2B5EF4-FFF2-40B4-BE49-F238E27FC236}">
                <a16:creationId xmlns:a16="http://schemas.microsoft.com/office/drawing/2014/main" id="{0BDE05B6-3246-A99C-FFBC-ECF478F720B8}"/>
              </a:ext>
            </a:extLst>
          </p:cNvPr>
          <p:cNvSpPr/>
          <p:nvPr/>
        </p:nvSpPr>
        <p:spPr>
          <a:xfrm>
            <a:off x="1718667" y="7306032"/>
            <a:ext cx="11193066" cy="444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s-EC" sz="1300" noProof="0" dirty="0">
                <a:solidFill>
                  <a:srgbClr val="D2D2D2"/>
                </a:solidFill>
                <a:latin typeface="Aptos"/>
              </a:rPr>
              <a:t>Pipeline: Kardex → Limpieza → Features temporales → Modelos → Validación → Recomendación en Streamlit.</a:t>
            </a:r>
            <a:endParaRPr lang="es-EC" sz="1250" noProof="0" dirty="0"/>
          </a:p>
        </p:txBody>
      </p:sp>
    </p:spTree>
    <p:extLst>
      <p:ext uri="{BB962C8B-B14F-4D97-AF65-F5344CB8AC3E}">
        <p14:creationId xmlns:p14="http://schemas.microsoft.com/office/powerpoint/2010/main" val="616250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>
            <a:extLst>
              <a:ext uri="{FF2B5EF4-FFF2-40B4-BE49-F238E27FC236}">
                <a16:creationId xmlns:a16="http://schemas.microsoft.com/office/drawing/2014/main" id="{16BCFC7A-449D-13AF-F42B-9E70B28CF3FA}"/>
              </a:ext>
            </a:extLst>
          </p:cNvPr>
          <p:cNvSpPr/>
          <p:nvPr/>
        </p:nvSpPr>
        <p:spPr>
          <a:xfrm>
            <a:off x="793790" y="2360771"/>
            <a:ext cx="1993106" cy="426244"/>
          </a:xfrm>
          <a:prstGeom prst="roundRect">
            <a:avLst>
              <a:gd name="adj" fmla="val 6386"/>
            </a:avLst>
          </a:prstGeom>
          <a:solidFill>
            <a:srgbClr val="CC0000"/>
          </a:solidFill>
          <a:ln/>
        </p:spPr>
        <p:txBody>
          <a:bodyPr/>
          <a:lstStyle/>
          <a:p>
            <a:endParaRPr lang="es-EC" noProof="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BA432AA1-4214-2ECC-C13A-D88710656FB5}"/>
              </a:ext>
            </a:extLst>
          </p:cNvPr>
          <p:cNvSpPr/>
          <p:nvPr/>
        </p:nvSpPr>
        <p:spPr>
          <a:xfrm>
            <a:off x="929878" y="2428756"/>
            <a:ext cx="1720929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s-EC" sz="1400" noProof="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ÉTICA Y PRIVACIDAD</a:t>
            </a:r>
            <a:endParaRPr lang="es-EC" sz="1400" noProof="0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375CA417-237B-7756-C3B5-3049BF5EE388}"/>
              </a:ext>
            </a:extLst>
          </p:cNvPr>
          <p:cNvSpPr/>
          <p:nvPr/>
        </p:nvSpPr>
        <p:spPr>
          <a:xfrm>
            <a:off x="793790" y="2877741"/>
            <a:ext cx="11388923" cy="708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s-EC" sz="2800" b="1" noProof="0" dirty="0">
                <a:solidFill>
                  <a:srgbClr val="FFFFFF"/>
                </a:solidFill>
                <a:latin typeface="Aptos"/>
              </a:rPr>
              <a:t>Ética, Privacidad y Uso Responsable</a:t>
            </a:r>
            <a:endParaRPr lang="es-EC" sz="4450" noProof="0" dirty="0"/>
          </a:p>
        </p:txBody>
      </p:sp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B9168499-265B-6728-748E-C73698F330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3926681"/>
            <a:ext cx="566976" cy="566976"/>
          </a:xfrm>
          <a:prstGeom prst="rect">
            <a:avLst/>
          </a:prstGeom>
        </p:spPr>
      </p:pic>
      <p:sp>
        <p:nvSpPr>
          <p:cNvPr id="14" name="Text 3">
            <a:extLst>
              <a:ext uri="{FF2B5EF4-FFF2-40B4-BE49-F238E27FC236}">
                <a16:creationId xmlns:a16="http://schemas.microsoft.com/office/drawing/2014/main" id="{C25EE709-DE06-786C-A9B2-A8C8689713DB}"/>
              </a:ext>
            </a:extLst>
          </p:cNvPr>
          <p:cNvSpPr/>
          <p:nvPr/>
        </p:nvSpPr>
        <p:spPr>
          <a:xfrm>
            <a:off x="1644253" y="39266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s-EC" sz="2200" noProof="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Tratamiento de Datos</a:t>
            </a:r>
            <a:endParaRPr lang="es-EC" sz="2200" noProof="0" dirty="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88FEB650-066D-2A78-286F-B7F6C0C852AA}"/>
              </a:ext>
            </a:extLst>
          </p:cNvPr>
          <p:cNvSpPr/>
          <p:nvPr/>
        </p:nvSpPr>
        <p:spPr>
          <a:xfrm>
            <a:off x="1644253" y="4417100"/>
            <a:ext cx="330815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s-EC" sz="1300" noProof="0" dirty="0">
                <a:solidFill>
                  <a:srgbClr val="D2D2D2"/>
                </a:solidFill>
                <a:latin typeface="Aptos"/>
              </a:rPr>
              <a:t>Se utilizaron datos operativos del Kardex. El modelo no requiere datos personales sensibles de clientes ni pacientes.</a:t>
            </a:r>
            <a:endParaRPr lang="es-EC" sz="1750" noProof="0" dirty="0"/>
          </a:p>
        </p:txBody>
      </p:sp>
      <p:pic>
        <p:nvPicPr>
          <p:cNvPr id="18" name="Image 1" descr="preencoded.png">
            <a:extLst>
              <a:ext uri="{FF2B5EF4-FFF2-40B4-BE49-F238E27FC236}">
                <a16:creationId xmlns:a16="http://schemas.microsoft.com/office/drawing/2014/main" id="{1CDCEB86-C8A5-3707-5688-4132D57F95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5893" y="3926681"/>
            <a:ext cx="566976" cy="566976"/>
          </a:xfrm>
          <a:prstGeom prst="rect">
            <a:avLst/>
          </a:prstGeom>
        </p:spPr>
      </p:pic>
      <p:sp>
        <p:nvSpPr>
          <p:cNvPr id="20" name="Text 5">
            <a:extLst>
              <a:ext uri="{FF2B5EF4-FFF2-40B4-BE49-F238E27FC236}">
                <a16:creationId xmlns:a16="http://schemas.microsoft.com/office/drawing/2014/main" id="{01936929-6B70-1A59-B7D2-C34533EBB9FD}"/>
              </a:ext>
            </a:extLst>
          </p:cNvPr>
          <p:cNvSpPr/>
          <p:nvPr/>
        </p:nvSpPr>
        <p:spPr>
          <a:xfrm>
            <a:off x="6086356" y="39266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s-EC" sz="2200" noProof="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Implicaciones Éticas</a:t>
            </a:r>
            <a:endParaRPr lang="es-EC" sz="2200" noProof="0" dirty="0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47BB1A29-6960-4B5A-A7A6-54B6AF9D2554}"/>
              </a:ext>
            </a:extLst>
          </p:cNvPr>
          <p:cNvSpPr/>
          <p:nvPr/>
        </p:nvSpPr>
        <p:spPr>
          <a:xfrm>
            <a:off x="6086356" y="4417100"/>
            <a:ext cx="330815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s-EC" sz="1300" noProof="0" dirty="0">
                <a:solidFill>
                  <a:srgbClr val="D2D2D2"/>
                </a:solidFill>
                <a:latin typeface="Aptos"/>
              </a:rPr>
              <a:t>Riesgo de dependencia excesiva, reproducción de errores históricos y sobreconfianza en recomendaciones automáticas.</a:t>
            </a:r>
            <a:endParaRPr lang="es-EC" sz="1750" noProof="0" dirty="0"/>
          </a:p>
        </p:txBody>
      </p:sp>
      <p:pic>
        <p:nvPicPr>
          <p:cNvPr id="24" name="Image 2" descr="preencoded.png">
            <a:extLst>
              <a:ext uri="{FF2B5EF4-FFF2-40B4-BE49-F238E27FC236}">
                <a16:creationId xmlns:a16="http://schemas.microsoft.com/office/drawing/2014/main" id="{D5E8507E-0C9B-BC52-02B1-38BCFECB94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77995" y="3926681"/>
            <a:ext cx="566976" cy="566976"/>
          </a:xfrm>
          <a:prstGeom prst="rect">
            <a:avLst/>
          </a:prstGeom>
        </p:spPr>
      </p:pic>
      <p:sp>
        <p:nvSpPr>
          <p:cNvPr id="26" name="Text 7">
            <a:extLst>
              <a:ext uri="{FF2B5EF4-FFF2-40B4-BE49-F238E27FC236}">
                <a16:creationId xmlns:a16="http://schemas.microsoft.com/office/drawing/2014/main" id="{2DF3161A-B195-4810-6802-954F09B039A6}"/>
              </a:ext>
            </a:extLst>
          </p:cNvPr>
          <p:cNvSpPr/>
          <p:nvPr/>
        </p:nvSpPr>
        <p:spPr>
          <a:xfrm>
            <a:off x="10528459" y="3926681"/>
            <a:ext cx="324802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s-EC" sz="2200" noProof="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Cumplimiento Normativo</a:t>
            </a:r>
            <a:endParaRPr lang="es-EC" sz="2200" noProof="0" dirty="0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BAF1AF06-B97D-9794-48C4-EC1295174F0C}"/>
              </a:ext>
            </a:extLst>
          </p:cNvPr>
          <p:cNvSpPr/>
          <p:nvPr/>
        </p:nvSpPr>
        <p:spPr>
          <a:xfrm>
            <a:off x="10528459" y="4417100"/>
            <a:ext cx="330815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s-EC" sz="1300" noProof="0" dirty="0">
                <a:solidFill>
                  <a:srgbClr val="D2D2D2"/>
                </a:solidFill>
                <a:latin typeface="Aptos"/>
              </a:rPr>
              <a:t>Supervisión humana obligatoria, validación periódica del Kardex, explicabilidad mediante SHAP y uso como apoyo a la decisión.</a:t>
            </a:r>
            <a:endParaRPr lang="es-EC" sz="1750" noProof="0" dirty="0"/>
          </a:p>
        </p:txBody>
      </p:sp>
    </p:spTree>
    <p:extLst>
      <p:ext uri="{BB962C8B-B14F-4D97-AF65-F5344CB8AC3E}">
        <p14:creationId xmlns:p14="http://schemas.microsoft.com/office/powerpoint/2010/main" val="22728798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>
            <a:extLst>
              <a:ext uri="{FF2B5EF4-FFF2-40B4-BE49-F238E27FC236}">
                <a16:creationId xmlns:a16="http://schemas.microsoft.com/office/drawing/2014/main" id="{8600AB0B-A154-D87E-51CF-061DECA5363D}"/>
              </a:ext>
            </a:extLst>
          </p:cNvPr>
          <p:cNvSpPr/>
          <p:nvPr/>
        </p:nvSpPr>
        <p:spPr>
          <a:xfrm>
            <a:off x="724733" y="742236"/>
            <a:ext cx="1451372" cy="377428"/>
          </a:xfrm>
          <a:prstGeom prst="roundRect">
            <a:avLst>
              <a:gd name="adj" fmla="val 6584"/>
            </a:avLst>
          </a:prstGeom>
          <a:solidFill>
            <a:srgbClr val="CC0000"/>
          </a:solidFill>
          <a:ln/>
        </p:spPr>
        <p:txBody>
          <a:bodyPr/>
          <a:lstStyle/>
          <a:p>
            <a:endParaRPr lang="es-EC" noProof="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940284EB-22BC-66C3-F7A9-5320379D80E3}"/>
              </a:ext>
            </a:extLst>
          </p:cNvPr>
          <p:cNvSpPr/>
          <p:nvPr/>
        </p:nvSpPr>
        <p:spPr>
          <a:xfrm>
            <a:off x="848916" y="804267"/>
            <a:ext cx="1203008" cy="253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s-EC" sz="1300" noProof="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PLANIFICACIÓN</a:t>
            </a:r>
            <a:endParaRPr lang="es-EC" sz="1300" noProof="0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FC96483D-D592-C180-DB57-4B0C3B02F1CB}"/>
              </a:ext>
            </a:extLst>
          </p:cNvPr>
          <p:cNvSpPr/>
          <p:nvPr/>
        </p:nvSpPr>
        <p:spPr>
          <a:xfrm>
            <a:off x="724733" y="1195268"/>
            <a:ext cx="8478798" cy="647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s-EC" sz="4050" noProof="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Planificación y Estructura de Costos</a:t>
            </a:r>
            <a:endParaRPr lang="es-EC" sz="4050" noProof="0" dirty="0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025B2DBD-FA56-C0EF-222E-F7D904771512}"/>
              </a:ext>
            </a:extLst>
          </p:cNvPr>
          <p:cNvSpPr/>
          <p:nvPr/>
        </p:nvSpPr>
        <p:spPr>
          <a:xfrm>
            <a:off x="575667" y="2979539"/>
            <a:ext cx="6479382" cy="4507706"/>
          </a:xfrm>
          <a:prstGeom prst="roundRect">
            <a:avLst>
              <a:gd name="adj" fmla="val 579"/>
            </a:avLst>
          </a:prstGeom>
          <a:solidFill>
            <a:srgbClr val="2A2C31"/>
          </a:solidFill>
          <a:ln/>
        </p:spPr>
        <p:txBody>
          <a:bodyPr/>
          <a:lstStyle/>
          <a:p>
            <a:endParaRPr lang="es-EC" noProof="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F41F0C67-C1EF-D612-E11B-21A20ABB0597}"/>
              </a:ext>
            </a:extLst>
          </p:cNvPr>
          <p:cNvSpPr/>
          <p:nvPr/>
        </p:nvSpPr>
        <p:spPr>
          <a:xfrm>
            <a:off x="782717" y="2314813"/>
            <a:ext cx="2588419" cy="323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s-EC" sz="2000" noProof="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Marco de Gestión</a:t>
            </a:r>
            <a:endParaRPr lang="es-EC" sz="2000" noProof="0" dirty="0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8EFB988D-287C-9E45-FA0E-08C7C98CCD91}"/>
              </a:ext>
            </a:extLst>
          </p:cNvPr>
          <p:cNvSpPr/>
          <p:nvPr/>
        </p:nvSpPr>
        <p:spPr>
          <a:xfrm>
            <a:off x="782717" y="3105045"/>
            <a:ext cx="6221968" cy="316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s-EC" sz="1500" b="1" noProof="0" dirty="0">
                <a:latin typeface="Aptos"/>
              </a:rPr>
              <a:t>Metodología aplicada: CRISP-DM</a:t>
            </a:r>
            <a:endParaRPr lang="es-EC" sz="1600" b="1" noProof="0" dirty="0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3FB819ED-8D7E-26F3-FC4A-CD302F9A30BD}"/>
              </a:ext>
            </a:extLst>
          </p:cNvPr>
          <p:cNvSpPr/>
          <p:nvPr/>
        </p:nvSpPr>
        <p:spPr>
          <a:xfrm>
            <a:off x="717113" y="3924969"/>
            <a:ext cx="6221968" cy="124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s-EC" sz="1400" noProof="0" dirty="0">
                <a:latin typeface="Aptos"/>
              </a:rPr>
              <a:t>Comprensión del negocio</a:t>
            </a:r>
            <a:endParaRPr lang="es-EC" sz="1600" dirty="0"/>
          </a:p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s-EC" sz="1400" noProof="0" dirty="0">
                <a:latin typeface="Aptos"/>
              </a:rPr>
              <a:t>Comprensión y preparación de datos</a:t>
            </a:r>
          </a:p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s-EC" sz="1400" noProof="0" dirty="0">
                <a:latin typeface="Aptos"/>
              </a:rPr>
              <a:t>Modelado y evaluación</a:t>
            </a:r>
          </a:p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s-EC" sz="1400" noProof="0" dirty="0">
                <a:latin typeface="Aptos"/>
              </a:rPr>
              <a:t>Despliegue funcional en Streamlit</a:t>
            </a:r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F3743CB9-6D6B-BF0B-A917-1F797CACBC1D}"/>
              </a:ext>
            </a:extLst>
          </p:cNvPr>
          <p:cNvSpPr/>
          <p:nvPr/>
        </p:nvSpPr>
        <p:spPr>
          <a:xfrm>
            <a:off x="7575352" y="2314813"/>
            <a:ext cx="3163253" cy="323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s-EC" sz="2000" noProof="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Tabla de Costos Estimados</a:t>
            </a:r>
            <a:endParaRPr lang="es-EC" sz="2000" noProof="0" dirty="0"/>
          </a:p>
        </p:txBody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DE25BBEB-6598-3786-793A-20DAEE8A3FA5}"/>
              </a:ext>
            </a:extLst>
          </p:cNvPr>
          <p:cNvSpPr/>
          <p:nvPr/>
        </p:nvSpPr>
        <p:spPr>
          <a:xfrm>
            <a:off x="7575352" y="2850951"/>
            <a:ext cx="6337935" cy="4636293"/>
          </a:xfrm>
          <a:prstGeom prst="roundRect">
            <a:avLst>
              <a:gd name="adj" fmla="val 702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s-EC" noProof="0" dirty="0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274EC817-CC80-4CC2-7B18-C18383DF7D15}"/>
              </a:ext>
            </a:extLst>
          </p:cNvPr>
          <p:cNvSpPr/>
          <p:nvPr/>
        </p:nvSpPr>
        <p:spPr>
          <a:xfrm>
            <a:off x="7790140" y="2979539"/>
            <a:ext cx="1478875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s-EC" sz="1600" b="1" noProof="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Categoría</a:t>
            </a:r>
            <a:endParaRPr lang="es-EC" sz="1600" noProof="0" dirty="0"/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7C892BF8-9EBF-851B-03EC-509B2B5A9F14}"/>
              </a:ext>
            </a:extLst>
          </p:cNvPr>
          <p:cNvSpPr/>
          <p:nvPr/>
        </p:nvSpPr>
        <p:spPr>
          <a:xfrm>
            <a:off x="9690735" y="2979539"/>
            <a:ext cx="2423398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s-EC" sz="1600" b="1" noProof="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Descripción</a:t>
            </a:r>
            <a:endParaRPr lang="es-EC" sz="1600" noProof="0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720F07D8-55B2-4213-E812-7339CC9DA903}"/>
              </a:ext>
            </a:extLst>
          </p:cNvPr>
          <p:cNvSpPr/>
          <p:nvPr/>
        </p:nvSpPr>
        <p:spPr>
          <a:xfrm>
            <a:off x="12535853" y="2979539"/>
            <a:ext cx="1162764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s-EC" sz="1600" b="1" noProof="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Inversión</a:t>
            </a:r>
            <a:endParaRPr lang="es-EC" sz="1600" noProof="0" dirty="0"/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46F3DBC3-3461-5604-2C9B-E1800266581A}"/>
              </a:ext>
            </a:extLst>
          </p:cNvPr>
          <p:cNvSpPr/>
          <p:nvPr/>
        </p:nvSpPr>
        <p:spPr>
          <a:xfrm>
            <a:off x="7790140" y="3545919"/>
            <a:ext cx="1478875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s-EC" sz="1600" noProof="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Infraestructura</a:t>
            </a:r>
            <a:endParaRPr lang="es-EC" sz="1600" noProof="0" dirty="0"/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333BE04D-DF66-6C28-9758-DA1AB027B365}"/>
              </a:ext>
            </a:extLst>
          </p:cNvPr>
          <p:cNvSpPr/>
          <p:nvPr/>
        </p:nvSpPr>
        <p:spPr>
          <a:xfrm>
            <a:off x="9690735" y="3545919"/>
            <a:ext cx="2423398" cy="633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s-EC" sz="1100" noProof="0" dirty="0">
                <a:solidFill>
                  <a:srgbClr val="D2D2D2"/>
                </a:solidFill>
                <a:latin typeface="Aptos"/>
              </a:rPr>
              <a:t>Streamlit Cloud / GitHub / entorno Python</a:t>
            </a:r>
            <a:endParaRPr lang="es-EC" sz="1600" noProof="0" dirty="0"/>
          </a:p>
        </p:txBody>
      </p:sp>
      <p:sp>
        <p:nvSpPr>
          <p:cNvPr id="34" name="Text 14">
            <a:extLst>
              <a:ext uri="{FF2B5EF4-FFF2-40B4-BE49-F238E27FC236}">
                <a16:creationId xmlns:a16="http://schemas.microsoft.com/office/drawing/2014/main" id="{4278E0B6-307D-A191-3C82-87E69049D048}"/>
              </a:ext>
            </a:extLst>
          </p:cNvPr>
          <p:cNvSpPr/>
          <p:nvPr/>
        </p:nvSpPr>
        <p:spPr>
          <a:xfrm>
            <a:off x="12535853" y="3545919"/>
            <a:ext cx="1162764" cy="316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s-EC" sz="1200" noProof="0" dirty="0">
                <a:solidFill>
                  <a:srgbClr val="D2D2D2"/>
                </a:solidFill>
                <a:latin typeface="Aptos"/>
              </a:rPr>
              <a:t>$0</a:t>
            </a:r>
            <a:endParaRPr lang="es-EC" sz="1600" noProof="0" dirty="0"/>
          </a:p>
        </p:txBody>
      </p:sp>
      <p:sp>
        <p:nvSpPr>
          <p:cNvPr id="36" name="Text 15">
            <a:extLst>
              <a:ext uri="{FF2B5EF4-FFF2-40B4-BE49-F238E27FC236}">
                <a16:creationId xmlns:a16="http://schemas.microsoft.com/office/drawing/2014/main" id="{70AF759F-1B99-22EB-2344-61646075C3A5}"/>
              </a:ext>
            </a:extLst>
          </p:cNvPr>
          <p:cNvSpPr/>
          <p:nvPr/>
        </p:nvSpPr>
        <p:spPr>
          <a:xfrm>
            <a:off x="7790140" y="4429125"/>
            <a:ext cx="1478875" cy="633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s-EC" sz="1600" noProof="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Talento Humano</a:t>
            </a:r>
            <a:endParaRPr lang="es-EC" sz="1600" noProof="0" dirty="0"/>
          </a:p>
        </p:txBody>
      </p:sp>
      <p:sp>
        <p:nvSpPr>
          <p:cNvPr id="38" name="Text 16">
            <a:extLst>
              <a:ext uri="{FF2B5EF4-FFF2-40B4-BE49-F238E27FC236}">
                <a16:creationId xmlns:a16="http://schemas.microsoft.com/office/drawing/2014/main" id="{3BD6B517-9BCF-C076-F836-22CC071BBCB7}"/>
              </a:ext>
            </a:extLst>
          </p:cNvPr>
          <p:cNvSpPr/>
          <p:nvPr/>
        </p:nvSpPr>
        <p:spPr>
          <a:xfrm>
            <a:off x="9690735" y="4429125"/>
            <a:ext cx="2423398" cy="950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s-EC" sz="1100" noProof="0" dirty="0">
                <a:solidFill>
                  <a:srgbClr val="D2D2D2"/>
                </a:solidFill>
                <a:latin typeface="Aptos"/>
              </a:rPr>
              <a:t>Desarrollo, análisis y documentación académica</a:t>
            </a:r>
            <a:endParaRPr lang="es-EC" sz="1600" noProof="0" dirty="0"/>
          </a:p>
        </p:txBody>
      </p:sp>
      <p:sp>
        <p:nvSpPr>
          <p:cNvPr id="40" name="Text 17">
            <a:extLst>
              <a:ext uri="{FF2B5EF4-FFF2-40B4-BE49-F238E27FC236}">
                <a16:creationId xmlns:a16="http://schemas.microsoft.com/office/drawing/2014/main" id="{041DA20B-7F12-856F-0AD7-77FFD3064F0C}"/>
              </a:ext>
            </a:extLst>
          </p:cNvPr>
          <p:cNvSpPr/>
          <p:nvPr/>
        </p:nvSpPr>
        <p:spPr>
          <a:xfrm>
            <a:off x="12535853" y="4429125"/>
            <a:ext cx="1162764" cy="316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s-EC" sz="1200" noProof="0" dirty="0">
                <a:solidFill>
                  <a:srgbClr val="D2D2D2"/>
                </a:solidFill>
                <a:latin typeface="Aptos"/>
              </a:rPr>
              <a:t>$0</a:t>
            </a:r>
            <a:endParaRPr lang="es-EC" sz="1600" noProof="0" dirty="0"/>
          </a:p>
        </p:txBody>
      </p:sp>
      <p:sp>
        <p:nvSpPr>
          <p:cNvPr id="42" name="Text 18">
            <a:extLst>
              <a:ext uri="{FF2B5EF4-FFF2-40B4-BE49-F238E27FC236}">
                <a16:creationId xmlns:a16="http://schemas.microsoft.com/office/drawing/2014/main" id="{18935153-5E08-5DE3-0A5A-9137BC166086}"/>
              </a:ext>
            </a:extLst>
          </p:cNvPr>
          <p:cNvSpPr/>
          <p:nvPr/>
        </p:nvSpPr>
        <p:spPr>
          <a:xfrm>
            <a:off x="7790140" y="5629156"/>
            <a:ext cx="1478875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s-EC" sz="1600" noProof="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Herramientas</a:t>
            </a:r>
            <a:endParaRPr lang="es-EC" sz="1600" noProof="0" dirty="0"/>
          </a:p>
        </p:txBody>
      </p:sp>
      <p:sp>
        <p:nvSpPr>
          <p:cNvPr id="44" name="Text 19">
            <a:extLst>
              <a:ext uri="{FF2B5EF4-FFF2-40B4-BE49-F238E27FC236}">
                <a16:creationId xmlns:a16="http://schemas.microsoft.com/office/drawing/2014/main" id="{D0ABCE9B-FFB8-E170-1D6D-DC43A1B5D846}"/>
              </a:ext>
            </a:extLst>
          </p:cNvPr>
          <p:cNvSpPr/>
          <p:nvPr/>
        </p:nvSpPr>
        <p:spPr>
          <a:xfrm>
            <a:off x="9690735" y="5629156"/>
            <a:ext cx="2423398" cy="950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s-EC" sz="1100" noProof="0" dirty="0">
                <a:solidFill>
                  <a:srgbClr val="D2D2D2"/>
                </a:solidFill>
                <a:latin typeface="Aptos"/>
              </a:rPr>
              <a:t>Librerías open-source: Pandas, Scikit-learn, Streamlit</a:t>
            </a:r>
            <a:endParaRPr lang="es-EC" sz="1600" noProof="0" dirty="0"/>
          </a:p>
        </p:txBody>
      </p:sp>
      <p:sp>
        <p:nvSpPr>
          <p:cNvPr id="46" name="Text 20">
            <a:extLst>
              <a:ext uri="{FF2B5EF4-FFF2-40B4-BE49-F238E27FC236}">
                <a16:creationId xmlns:a16="http://schemas.microsoft.com/office/drawing/2014/main" id="{F7B0A6A3-370B-27A9-D484-5EA31936777E}"/>
              </a:ext>
            </a:extLst>
          </p:cNvPr>
          <p:cNvSpPr/>
          <p:nvPr/>
        </p:nvSpPr>
        <p:spPr>
          <a:xfrm>
            <a:off x="12535853" y="5629156"/>
            <a:ext cx="1162764" cy="316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s-EC" sz="1200" noProof="0" dirty="0">
                <a:solidFill>
                  <a:srgbClr val="D2D2D2"/>
                </a:solidFill>
                <a:latin typeface="Aptos"/>
              </a:rPr>
              <a:t>$0</a:t>
            </a:r>
            <a:endParaRPr lang="es-EC" sz="1600" noProof="0" dirty="0"/>
          </a:p>
        </p:txBody>
      </p:sp>
      <p:sp>
        <p:nvSpPr>
          <p:cNvPr id="48" name="Text 21">
            <a:extLst>
              <a:ext uri="{FF2B5EF4-FFF2-40B4-BE49-F238E27FC236}">
                <a16:creationId xmlns:a16="http://schemas.microsoft.com/office/drawing/2014/main" id="{B0BD720D-2333-ED35-3B43-6F28CD4A1457}"/>
              </a:ext>
            </a:extLst>
          </p:cNvPr>
          <p:cNvSpPr/>
          <p:nvPr/>
        </p:nvSpPr>
        <p:spPr>
          <a:xfrm>
            <a:off x="7790140" y="6829187"/>
            <a:ext cx="1478875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s-EC" sz="1600" b="1" noProof="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Total</a:t>
            </a:r>
            <a:endParaRPr lang="es-EC" sz="1600" noProof="0" dirty="0"/>
          </a:p>
        </p:txBody>
      </p:sp>
      <p:sp>
        <p:nvSpPr>
          <p:cNvPr id="50" name="Text 22">
            <a:extLst>
              <a:ext uri="{FF2B5EF4-FFF2-40B4-BE49-F238E27FC236}">
                <a16:creationId xmlns:a16="http://schemas.microsoft.com/office/drawing/2014/main" id="{D75A1783-C2DA-7A46-37AA-D929ABED5B65}"/>
              </a:ext>
            </a:extLst>
          </p:cNvPr>
          <p:cNvSpPr/>
          <p:nvPr/>
        </p:nvSpPr>
        <p:spPr>
          <a:xfrm>
            <a:off x="9690735" y="6829187"/>
            <a:ext cx="2423398" cy="316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s-EC" sz="1100" noProof="0" dirty="0">
                <a:solidFill>
                  <a:srgbClr val="D2D2D2"/>
                </a:solidFill>
                <a:latin typeface="Aptos"/>
              </a:rPr>
              <a:t>MVP académico con herramientas abiertas</a:t>
            </a:r>
            <a:endParaRPr lang="es-EC" sz="1600" noProof="0" dirty="0"/>
          </a:p>
        </p:txBody>
      </p:sp>
      <p:sp>
        <p:nvSpPr>
          <p:cNvPr id="52" name="Text 23">
            <a:extLst>
              <a:ext uri="{FF2B5EF4-FFF2-40B4-BE49-F238E27FC236}">
                <a16:creationId xmlns:a16="http://schemas.microsoft.com/office/drawing/2014/main" id="{4AD56030-73ED-84E2-D700-FEC0FCD581A1}"/>
              </a:ext>
            </a:extLst>
          </p:cNvPr>
          <p:cNvSpPr/>
          <p:nvPr/>
        </p:nvSpPr>
        <p:spPr>
          <a:xfrm>
            <a:off x="12535853" y="6829187"/>
            <a:ext cx="1162764" cy="316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s-EC" sz="1200" noProof="0" dirty="0">
                <a:solidFill>
                  <a:srgbClr val="D2D2D2"/>
                </a:solidFill>
                <a:latin typeface="Aptos"/>
              </a:rPr>
              <a:t>$0</a:t>
            </a:r>
            <a:endParaRPr lang="es-EC" sz="1600" noProof="0" dirty="0"/>
          </a:p>
        </p:txBody>
      </p:sp>
    </p:spTree>
    <p:extLst>
      <p:ext uri="{BB962C8B-B14F-4D97-AF65-F5344CB8AC3E}">
        <p14:creationId xmlns:p14="http://schemas.microsoft.com/office/powerpoint/2010/main" val="17697346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>
            <a:extLst>
              <a:ext uri="{FF2B5EF4-FFF2-40B4-BE49-F238E27FC236}">
                <a16:creationId xmlns:a16="http://schemas.microsoft.com/office/drawing/2014/main" id="{ACD1222C-A39A-B8AD-52FA-8A5CA0317442}"/>
              </a:ext>
            </a:extLst>
          </p:cNvPr>
          <p:cNvSpPr/>
          <p:nvPr/>
        </p:nvSpPr>
        <p:spPr>
          <a:xfrm>
            <a:off x="793790" y="1051203"/>
            <a:ext cx="1356479" cy="426244"/>
          </a:xfrm>
          <a:prstGeom prst="roundRect">
            <a:avLst>
              <a:gd name="adj" fmla="val 6386"/>
            </a:avLst>
          </a:prstGeom>
          <a:solidFill>
            <a:srgbClr val="CC0000"/>
          </a:solidFill>
          <a:ln/>
        </p:spPr>
        <p:txBody>
          <a:bodyPr/>
          <a:lstStyle/>
          <a:p>
            <a:endParaRPr lang="es-EC" noProof="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2EAC8732-8A19-F0E0-6F61-8E0CD4CD6DEE}"/>
              </a:ext>
            </a:extLst>
          </p:cNvPr>
          <p:cNvSpPr/>
          <p:nvPr/>
        </p:nvSpPr>
        <p:spPr>
          <a:xfrm>
            <a:off x="929878" y="1119187"/>
            <a:ext cx="108430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s-EC" sz="1400" noProof="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RESULTADOS</a:t>
            </a:r>
            <a:endParaRPr lang="es-EC" sz="1400" noProof="0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315793E9-3699-53D3-9861-888A7ADFF136}"/>
              </a:ext>
            </a:extLst>
          </p:cNvPr>
          <p:cNvSpPr/>
          <p:nvPr/>
        </p:nvSpPr>
        <p:spPr>
          <a:xfrm>
            <a:off x="793790" y="1568172"/>
            <a:ext cx="964311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s-EC" sz="4450" noProof="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Resultados y Validación del Prototipo</a:t>
            </a:r>
            <a:endParaRPr lang="es-EC" sz="4450" noProof="0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D1607A96-D7DA-6305-671D-ADF099088501}"/>
              </a:ext>
            </a:extLst>
          </p:cNvPr>
          <p:cNvSpPr/>
          <p:nvPr/>
        </p:nvSpPr>
        <p:spPr>
          <a:xfrm>
            <a:off x="793790" y="2617113"/>
            <a:ext cx="13042821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s-EC" sz="1400" noProof="0" dirty="0">
                <a:solidFill>
                  <a:srgbClr val="D2D2D2"/>
                </a:solidFill>
                <a:latin typeface="Aptos"/>
              </a:rPr>
              <a:t>Indicadores de desempeño obtenidos durante validación temporal del prototipo predictivo.</a:t>
            </a:r>
            <a:endParaRPr lang="es-EC" sz="1750" noProof="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DA7834C1-4B66-79D4-D9FA-FD132C84A35C}"/>
              </a:ext>
            </a:extLst>
          </p:cNvPr>
          <p:cNvSpPr/>
          <p:nvPr/>
        </p:nvSpPr>
        <p:spPr>
          <a:xfrm>
            <a:off x="793790" y="3348514"/>
            <a:ext cx="4158615" cy="748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s-EC" sz="3600" b="1" noProof="0" dirty="0">
                <a:solidFill>
                  <a:srgbClr val="FFFFFF"/>
                </a:solidFill>
                <a:latin typeface="Aptos"/>
              </a:rPr>
              <a:t>1.797</a:t>
            </a:r>
            <a:endParaRPr lang="es-EC" sz="5850" noProof="0" dirty="0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374BC8C6-46AD-0928-7CB2-17A50532B287}"/>
              </a:ext>
            </a:extLst>
          </p:cNvPr>
          <p:cNvSpPr/>
          <p:nvPr/>
        </p:nvSpPr>
        <p:spPr>
          <a:xfrm>
            <a:off x="1455420" y="4380309"/>
            <a:ext cx="2835235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s-EC" sz="1600" b="1" noProof="0" dirty="0">
                <a:solidFill>
                  <a:srgbClr val="FFFFFF"/>
                </a:solidFill>
                <a:latin typeface="Aptos"/>
              </a:rPr>
              <a:t>MAE Baseline</a:t>
            </a:r>
            <a:endParaRPr lang="es-EC" sz="2200" noProof="0" dirty="0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8E3B1DC5-7FC3-F162-8652-96EA45195818}"/>
              </a:ext>
            </a:extLst>
          </p:cNvPr>
          <p:cNvSpPr/>
          <p:nvPr/>
        </p:nvSpPr>
        <p:spPr>
          <a:xfrm>
            <a:off x="793790" y="4870728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s-EC" sz="1200" noProof="0" dirty="0">
                <a:solidFill>
                  <a:srgbClr val="D2D2D2"/>
                </a:solidFill>
                <a:latin typeface="Aptos"/>
              </a:rPr>
              <a:t>Error promedio en unidades; métrica principal de evaluación.</a:t>
            </a:r>
            <a:endParaRPr lang="es-EC" sz="1750" noProof="0" dirty="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74EB995E-FAE5-7957-08EE-08F5830D3483}"/>
              </a:ext>
            </a:extLst>
          </p:cNvPr>
          <p:cNvSpPr/>
          <p:nvPr/>
        </p:nvSpPr>
        <p:spPr>
          <a:xfrm>
            <a:off x="5235893" y="3348514"/>
            <a:ext cx="4158615" cy="748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s-EC" sz="3600" b="1" noProof="0" dirty="0">
                <a:solidFill>
                  <a:srgbClr val="FFFFFF"/>
                </a:solidFill>
                <a:latin typeface="Aptos"/>
              </a:rPr>
              <a:t>3.067</a:t>
            </a:r>
            <a:endParaRPr lang="es-EC" sz="5850" noProof="0" dirty="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028539E6-0EE3-E5C1-2F75-01D6150CD49E}"/>
              </a:ext>
            </a:extLst>
          </p:cNvPr>
          <p:cNvSpPr/>
          <p:nvPr/>
        </p:nvSpPr>
        <p:spPr>
          <a:xfrm>
            <a:off x="5897523" y="4380309"/>
            <a:ext cx="2835235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s-EC" sz="1600" b="1" noProof="0" dirty="0">
                <a:solidFill>
                  <a:srgbClr val="FFFFFF"/>
                </a:solidFill>
                <a:latin typeface="Aptos"/>
              </a:rPr>
              <a:t>RMSE Baseline</a:t>
            </a:r>
            <a:endParaRPr lang="es-EC" sz="2200" noProof="0" dirty="0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73284342-87C2-F10A-6B76-DB87F13292B2}"/>
              </a:ext>
            </a:extLst>
          </p:cNvPr>
          <p:cNvSpPr/>
          <p:nvPr/>
        </p:nvSpPr>
        <p:spPr>
          <a:xfrm>
            <a:off x="5235893" y="4870728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s-EC" sz="1200" noProof="0" dirty="0">
                <a:solidFill>
                  <a:srgbClr val="D2D2D2"/>
                </a:solidFill>
                <a:latin typeface="Aptos"/>
              </a:rPr>
              <a:t>Penaliza errores grandes y evalúa estabilidad del pronóstico.</a:t>
            </a:r>
            <a:endParaRPr lang="es-EC" sz="1750" noProof="0" dirty="0"/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46AA88FA-ACE0-4909-53A9-EA6016B9D2C8}"/>
              </a:ext>
            </a:extLst>
          </p:cNvPr>
          <p:cNvSpPr/>
          <p:nvPr/>
        </p:nvSpPr>
        <p:spPr>
          <a:xfrm>
            <a:off x="9677995" y="3348514"/>
            <a:ext cx="4158615" cy="748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s-EC" sz="3600" b="1" noProof="0" dirty="0">
                <a:solidFill>
                  <a:srgbClr val="FFFFFF"/>
                </a:solidFill>
                <a:latin typeface="Aptos"/>
              </a:rPr>
              <a:t>0.583</a:t>
            </a:r>
            <a:endParaRPr lang="es-EC" sz="5850" noProof="0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A2FDC722-A045-CF88-F37C-08A5A3CA4898}"/>
              </a:ext>
            </a:extLst>
          </p:cNvPr>
          <p:cNvSpPr/>
          <p:nvPr/>
        </p:nvSpPr>
        <p:spPr>
          <a:xfrm>
            <a:off x="10339626" y="4380309"/>
            <a:ext cx="2835235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s-EC" sz="1600" b="1" noProof="0" dirty="0">
                <a:solidFill>
                  <a:srgbClr val="FFFFFF"/>
                </a:solidFill>
                <a:latin typeface="Aptos"/>
              </a:rPr>
              <a:t>R² Baseline</a:t>
            </a:r>
            <a:endParaRPr lang="es-EC" sz="2200" noProof="0" dirty="0"/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2AB5CCC6-0A32-6E69-2E4B-DB6877BE0392}"/>
              </a:ext>
            </a:extLst>
          </p:cNvPr>
          <p:cNvSpPr/>
          <p:nvPr/>
        </p:nvSpPr>
        <p:spPr>
          <a:xfrm>
            <a:off x="9677995" y="4870728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s-EC" sz="1200" noProof="0" dirty="0">
                <a:solidFill>
                  <a:srgbClr val="D2D2D2"/>
                </a:solidFill>
                <a:latin typeface="Aptos"/>
              </a:rPr>
              <a:t>Capacidad explicativa relativa del modelo seleccionado.</a:t>
            </a:r>
            <a:endParaRPr lang="es-EC" sz="1750" noProof="0" dirty="0"/>
          </a:p>
        </p:txBody>
      </p:sp>
      <p:sp>
        <p:nvSpPr>
          <p:cNvPr id="32" name="Shape 13">
            <a:extLst>
              <a:ext uri="{FF2B5EF4-FFF2-40B4-BE49-F238E27FC236}">
                <a16:creationId xmlns:a16="http://schemas.microsoft.com/office/drawing/2014/main" id="{AD6D225D-CF4E-67A3-83F2-9A6A194CD5F1}"/>
              </a:ext>
            </a:extLst>
          </p:cNvPr>
          <p:cNvSpPr/>
          <p:nvPr/>
        </p:nvSpPr>
        <p:spPr>
          <a:xfrm>
            <a:off x="793790" y="5851684"/>
            <a:ext cx="13042821" cy="1326713"/>
          </a:xfrm>
          <a:prstGeom prst="roundRect">
            <a:avLst>
              <a:gd name="adj" fmla="val 2565"/>
            </a:avLst>
          </a:prstGeom>
          <a:solidFill>
            <a:srgbClr val="CC0000"/>
          </a:solidFill>
          <a:ln/>
        </p:spPr>
        <p:txBody>
          <a:bodyPr/>
          <a:lstStyle/>
          <a:p>
            <a:endParaRPr lang="es-EC" noProof="0" dirty="0"/>
          </a:p>
        </p:txBody>
      </p:sp>
      <p:pic>
        <p:nvPicPr>
          <p:cNvPr id="34" name="Image 0" descr="preencoded.png">
            <a:extLst>
              <a:ext uri="{FF2B5EF4-FFF2-40B4-BE49-F238E27FC236}">
                <a16:creationId xmlns:a16="http://schemas.microsoft.com/office/drawing/2014/main" id="{BF8FB0C7-24F8-D5C0-4892-B262BF73EC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604" y="6195774"/>
            <a:ext cx="283488" cy="226814"/>
          </a:xfrm>
          <a:prstGeom prst="rect">
            <a:avLst/>
          </a:prstGeom>
        </p:spPr>
      </p:pic>
      <p:sp>
        <p:nvSpPr>
          <p:cNvPr id="36" name="Text 14">
            <a:extLst>
              <a:ext uri="{FF2B5EF4-FFF2-40B4-BE49-F238E27FC236}">
                <a16:creationId xmlns:a16="http://schemas.microsoft.com/office/drawing/2014/main" id="{0157993E-FA81-8A2E-79C5-82638E75A557}"/>
              </a:ext>
            </a:extLst>
          </p:cNvPr>
          <p:cNvSpPr/>
          <p:nvPr/>
        </p:nvSpPr>
        <p:spPr>
          <a:xfrm>
            <a:off x="1530906" y="6135172"/>
            <a:ext cx="120788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s-EC" sz="1500" noProof="0" dirty="0">
                <a:solidFill>
                  <a:srgbClr val="FFFFFF"/>
                </a:solidFill>
                <a:latin typeface="Aptos"/>
              </a:rPr>
              <a:t>Conclusión: El baseline superó a Random Forest y XGBoost bajo validación temporal. La señal dominante del problema fue el consumo reciente, por lo que el modelo más simple resultó más preciso, estable y defendible operativamente.</a:t>
            </a:r>
            <a:endParaRPr lang="es-EC" sz="1750" noProof="0" dirty="0"/>
          </a:p>
        </p:txBody>
      </p:sp>
    </p:spTree>
    <p:extLst>
      <p:ext uri="{BB962C8B-B14F-4D97-AF65-F5344CB8AC3E}">
        <p14:creationId xmlns:p14="http://schemas.microsoft.com/office/powerpoint/2010/main" val="21134381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575AE-53FF-88EF-B938-CCC4B5078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>
            <a:extLst>
              <a:ext uri="{FF2B5EF4-FFF2-40B4-BE49-F238E27FC236}">
                <a16:creationId xmlns:a16="http://schemas.microsoft.com/office/drawing/2014/main" id="{57DEBFFB-4633-3DB3-3EF1-6A614F4140C5}"/>
              </a:ext>
            </a:extLst>
          </p:cNvPr>
          <p:cNvSpPr/>
          <p:nvPr/>
        </p:nvSpPr>
        <p:spPr>
          <a:xfrm>
            <a:off x="724733" y="742236"/>
            <a:ext cx="1451372" cy="377428"/>
          </a:xfrm>
          <a:prstGeom prst="roundRect">
            <a:avLst>
              <a:gd name="adj" fmla="val 6584"/>
            </a:avLst>
          </a:prstGeom>
          <a:solidFill>
            <a:srgbClr val="CC0000"/>
          </a:solidFill>
          <a:ln/>
        </p:spPr>
        <p:txBody>
          <a:bodyPr/>
          <a:lstStyle/>
          <a:p>
            <a:endParaRPr lang="es-EC" noProof="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0A1C2AA5-9C27-4C51-8B3A-7E58BE774606}"/>
              </a:ext>
            </a:extLst>
          </p:cNvPr>
          <p:cNvSpPr/>
          <p:nvPr/>
        </p:nvSpPr>
        <p:spPr>
          <a:xfrm>
            <a:off x="848916" y="804267"/>
            <a:ext cx="1203008" cy="253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s-EC" sz="1300" noProof="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DEMOSTRACIÓN</a:t>
            </a:r>
            <a:endParaRPr lang="es-EC" sz="1300" noProof="0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212EFC58-E6E5-D10E-B65E-5DCBA00A415C}"/>
              </a:ext>
            </a:extLst>
          </p:cNvPr>
          <p:cNvSpPr/>
          <p:nvPr/>
        </p:nvSpPr>
        <p:spPr>
          <a:xfrm>
            <a:off x="724733" y="1195268"/>
            <a:ext cx="8478798" cy="647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s-EC" sz="4050" noProof="0" dirty="0">
                <a:solidFill>
                  <a:srgbClr val="F3F3F2"/>
                </a:solidFill>
                <a:latin typeface="IBM Plex Sans Medium" pitchFamily="34" charset="0"/>
              </a:rPr>
              <a:t>Demostración del sistema</a:t>
            </a:r>
            <a:endParaRPr lang="es-EC" sz="4050" noProof="0" dirty="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D28C0097-B9DB-B193-9A83-ED5ACB8A157D}"/>
              </a:ext>
            </a:extLst>
          </p:cNvPr>
          <p:cNvSpPr/>
          <p:nvPr/>
        </p:nvSpPr>
        <p:spPr>
          <a:xfrm>
            <a:off x="7621904" y="2514526"/>
            <a:ext cx="3163253" cy="647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s-EC" sz="1700" b="1" noProof="0" dirty="0">
                <a:solidFill>
                  <a:srgbClr val="FFFFFF"/>
                </a:solidFill>
                <a:latin typeface="Aptos"/>
              </a:rPr>
              <a:t>Demo funcional en Streamlit Cloud</a:t>
            </a:r>
          </a:p>
        </p:txBody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1838B33B-8465-AB6E-857A-2319B7DC5E43}"/>
              </a:ext>
            </a:extLst>
          </p:cNvPr>
          <p:cNvSpPr/>
          <p:nvPr/>
        </p:nvSpPr>
        <p:spPr>
          <a:xfrm>
            <a:off x="7477380" y="3712028"/>
            <a:ext cx="6337935" cy="1676400"/>
          </a:xfrm>
          <a:prstGeom prst="roundRect">
            <a:avLst>
              <a:gd name="adj" fmla="val 702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  <p:txBody>
          <a:bodyPr wrap="square"/>
          <a:lstStyle/>
          <a:p>
            <a:r>
              <a:rPr lang="es-EC" sz="1400" noProof="0" dirty="0">
                <a:solidFill>
                  <a:srgbClr val="D2D2D2"/>
                </a:solidFill>
                <a:latin typeface="Aptos"/>
              </a:rPr>
              <a:t>• Selección de producto desde catálogo</a:t>
            </a:r>
            <a:endParaRPr lang="es-EC" noProof="0" dirty="0"/>
          </a:p>
          <a:p>
            <a:r>
              <a:rPr lang="es-EC" sz="1400" noProof="0" dirty="0">
                <a:solidFill>
                  <a:srgbClr val="D2D2D2"/>
                </a:solidFill>
                <a:latin typeface="Aptos"/>
              </a:rPr>
              <a:t>• Autocompletado de categoría y precio</a:t>
            </a:r>
          </a:p>
          <a:p>
            <a:r>
              <a:rPr lang="es-EC" sz="1400" noProof="0" dirty="0">
                <a:solidFill>
                  <a:srgbClr val="D2D2D2"/>
                </a:solidFill>
                <a:latin typeface="Aptos"/>
              </a:rPr>
              <a:t>• Semana proyectada con rango de fechas</a:t>
            </a:r>
          </a:p>
          <a:p>
            <a:r>
              <a:rPr lang="es-EC" sz="1400" noProof="0" dirty="0">
                <a:solidFill>
                  <a:srgbClr val="D2D2D2"/>
                </a:solidFill>
                <a:latin typeface="Aptos"/>
              </a:rPr>
              <a:t>• Consumos recientes y stock actual</a:t>
            </a:r>
          </a:p>
          <a:p>
            <a:r>
              <a:rPr lang="es-EC" sz="1400" noProof="0" dirty="0">
                <a:solidFill>
                  <a:srgbClr val="D2D2D2"/>
                </a:solidFill>
                <a:latin typeface="Aptos"/>
              </a:rPr>
              <a:t>• Compra sugerida en unidades enteras</a:t>
            </a:r>
          </a:p>
          <a:p>
            <a:r>
              <a:rPr lang="es-EC" sz="1400" noProof="0" dirty="0">
                <a:solidFill>
                  <a:srgbClr val="D2D2D2"/>
                </a:solidFill>
                <a:latin typeface="Aptos"/>
              </a:rPr>
              <a:t>• Riesgo de quiebre e inversión estimada</a:t>
            </a:r>
          </a:p>
          <a:p>
            <a:r>
              <a:rPr lang="es-EC" sz="1400" noProof="0" dirty="0">
                <a:solidFill>
                  <a:srgbClr val="D2D2D2"/>
                </a:solidFill>
                <a:latin typeface="Aptos"/>
              </a:rPr>
              <a:t>• Comparación experimental con Random Forest</a:t>
            </a:r>
          </a:p>
        </p:txBody>
      </p:sp>
      <p:pic>
        <p:nvPicPr>
          <p:cNvPr id="23" name="Picture 22" descr="image(2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113" y="2533023"/>
            <a:ext cx="5486400" cy="3163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2169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>
            <a:extLst>
              <a:ext uri="{FF2B5EF4-FFF2-40B4-BE49-F238E27FC236}">
                <a16:creationId xmlns:a16="http://schemas.microsoft.com/office/drawing/2014/main" id="{A9590878-4616-FB0B-3CE2-7DCD0E2C1DED}"/>
              </a:ext>
            </a:extLst>
          </p:cNvPr>
          <p:cNvSpPr/>
          <p:nvPr/>
        </p:nvSpPr>
        <p:spPr>
          <a:xfrm>
            <a:off x="712351" y="776288"/>
            <a:ext cx="733306" cy="340519"/>
          </a:xfrm>
          <a:prstGeom prst="roundRect">
            <a:avLst>
              <a:gd name="adj" fmla="val 6745"/>
            </a:avLst>
          </a:prstGeom>
          <a:solidFill>
            <a:srgbClr val="CC0000"/>
          </a:solidFill>
          <a:ln/>
        </p:spPr>
        <p:txBody>
          <a:bodyPr/>
          <a:lstStyle/>
          <a:p>
            <a:endParaRPr lang="es-EC" noProof="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6656B791-CDC5-1884-39E3-F1520F99F403}"/>
              </a:ext>
            </a:extLst>
          </p:cNvPr>
          <p:cNvSpPr/>
          <p:nvPr/>
        </p:nvSpPr>
        <p:spPr>
          <a:xfrm>
            <a:off x="827127" y="833676"/>
            <a:ext cx="503753" cy="225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s-EC" sz="1200" noProof="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CIERRE</a:t>
            </a:r>
            <a:endParaRPr lang="es-EC" sz="1200" noProof="0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AB7A8DD1-5172-C47B-B125-E8585D78D34C}"/>
              </a:ext>
            </a:extLst>
          </p:cNvPr>
          <p:cNvSpPr/>
          <p:nvPr/>
        </p:nvSpPr>
        <p:spPr>
          <a:xfrm>
            <a:off x="712351" y="1181338"/>
            <a:ext cx="6846808" cy="598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s-EC" sz="3750" noProof="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Conclusiones y Próximos Pasos</a:t>
            </a:r>
            <a:endParaRPr lang="es-EC" sz="3750" noProof="0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E4E407CF-FA78-B27B-F0DD-9531CA480A69}"/>
              </a:ext>
            </a:extLst>
          </p:cNvPr>
          <p:cNvSpPr/>
          <p:nvPr/>
        </p:nvSpPr>
        <p:spPr>
          <a:xfrm>
            <a:off x="712351" y="2183011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s-EC" sz="1850" noProof="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Conclusiones Clave</a:t>
            </a:r>
            <a:endParaRPr lang="es-EC" sz="1850" noProof="0" dirty="0"/>
          </a:p>
        </p:txBody>
      </p:sp>
      <p:pic>
        <p:nvPicPr>
          <p:cNvPr id="14" name="Image 0" descr="preencoded.png">
            <a:extLst>
              <a:ext uri="{FF2B5EF4-FFF2-40B4-BE49-F238E27FC236}">
                <a16:creationId xmlns:a16="http://schemas.microsoft.com/office/drawing/2014/main" id="{FDA85C29-A1AB-C4A5-38D4-B90C84B105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4027" y="2672953"/>
            <a:ext cx="287060" cy="287060"/>
          </a:xfrm>
          <a:prstGeom prst="rect">
            <a:avLst/>
          </a:prstGeom>
        </p:spPr>
      </p:pic>
      <p:sp>
        <p:nvSpPr>
          <p:cNvPr id="16" name="Text 4">
            <a:extLst>
              <a:ext uri="{FF2B5EF4-FFF2-40B4-BE49-F238E27FC236}">
                <a16:creationId xmlns:a16="http://schemas.microsoft.com/office/drawing/2014/main" id="{0DE7F312-6F50-46D2-A192-AB8D6643127E}"/>
              </a:ext>
            </a:extLst>
          </p:cNvPr>
          <p:cNvSpPr/>
          <p:nvPr/>
        </p:nvSpPr>
        <p:spPr>
          <a:xfrm>
            <a:off x="1334214" y="2663547"/>
            <a:ext cx="5747385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s-EC" sz="1600" noProof="0" dirty="0">
                <a:solidFill>
                  <a:srgbClr val="D2D2D2"/>
                </a:solidFill>
                <a:latin typeface="Aptos"/>
              </a:rPr>
              <a:t>El prototipo demostró viabilidad técnica para apoyar decisiones de inventario.</a:t>
            </a:r>
            <a:endParaRPr lang="es-EC" sz="1500" noProof="0" dirty="0"/>
          </a:p>
        </p:txBody>
      </p:sp>
      <p:pic>
        <p:nvPicPr>
          <p:cNvPr id="18" name="Image 1" descr="preencoded.png">
            <a:extLst>
              <a:ext uri="{FF2B5EF4-FFF2-40B4-BE49-F238E27FC236}">
                <a16:creationId xmlns:a16="http://schemas.microsoft.com/office/drawing/2014/main" id="{DFDECEDE-4778-274B-AD72-6EEDF2CC29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4027" y="3579376"/>
            <a:ext cx="287060" cy="287060"/>
          </a:xfrm>
          <a:prstGeom prst="rect">
            <a:avLst/>
          </a:prstGeom>
        </p:spPr>
      </p:pic>
      <p:sp>
        <p:nvSpPr>
          <p:cNvPr id="20" name="Text 5">
            <a:extLst>
              <a:ext uri="{FF2B5EF4-FFF2-40B4-BE49-F238E27FC236}">
                <a16:creationId xmlns:a16="http://schemas.microsoft.com/office/drawing/2014/main" id="{216C1F3C-15F7-5A57-5BC5-3456586F3F2C}"/>
              </a:ext>
            </a:extLst>
          </p:cNvPr>
          <p:cNvSpPr/>
          <p:nvPr/>
        </p:nvSpPr>
        <p:spPr>
          <a:xfrm>
            <a:off x="1334214" y="3569970"/>
            <a:ext cx="5747385" cy="282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s-EC" sz="1600" noProof="0" dirty="0">
                <a:solidFill>
                  <a:srgbClr val="D2D2D2"/>
                </a:solidFill>
                <a:latin typeface="Aptos"/>
              </a:rPr>
              <a:t>El baseline fue la solución más robusta bajo las condiciones actuales del dataset.</a:t>
            </a:r>
            <a:endParaRPr lang="es-EC" sz="1500" noProof="0" dirty="0"/>
          </a:p>
        </p:txBody>
      </p:sp>
      <p:pic>
        <p:nvPicPr>
          <p:cNvPr id="22" name="Image 2" descr="preencoded.png">
            <a:extLst>
              <a:ext uri="{FF2B5EF4-FFF2-40B4-BE49-F238E27FC236}">
                <a16:creationId xmlns:a16="http://schemas.microsoft.com/office/drawing/2014/main" id="{197865F4-8F92-2C15-CDB1-4B307A2429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4027" y="4485799"/>
            <a:ext cx="287060" cy="287060"/>
          </a:xfrm>
          <a:prstGeom prst="rect">
            <a:avLst/>
          </a:prstGeom>
        </p:spPr>
      </p:pic>
      <p:sp>
        <p:nvSpPr>
          <p:cNvPr id="24" name="Text 6">
            <a:extLst>
              <a:ext uri="{FF2B5EF4-FFF2-40B4-BE49-F238E27FC236}">
                <a16:creationId xmlns:a16="http://schemas.microsoft.com/office/drawing/2014/main" id="{9C27D9FA-E5D2-910C-EE78-29D12140D184}"/>
              </a:ext>
            </a:extLst>
          </p:cNvPr>
          <p:cNvSpPr/>
          <p:nvPr/>
        </p:nvSpPr>
        <p:spPr>
          <a:xfrm>
            <a:off x="1334214" y="4476393"/>
            <a:ext cx="5747385" cy="282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s-EC" sz="1600" noProof="0" dirty="0">
                <a:solidFill>
                  <a:srgbClr val="D2D2D2"/>
                </a:solidFill>
                <a:latin typeface="Aptos"/>
              </a:rPr>
              <a:t>La app Streamlit traduce la predicción en una recomendación operativa clara.</a:t>
            </a:r>
            <a:endParaRPr lang="es-EC" sz="1500" noProof="0" dirty="0"/>
          </a:p>
        </p:txBody>
      </p:sp>
      <p:sp>
        <p:nvSpPr>
          <p:cNvPr id="26" name="Text 7">
            <a:extLst>
              <a:ext uri="{FF2B5EF4-FFF2-40B4-BE49-F238E27FC236}">
                <a16:creationId xmlns:a16="http://schemas.microsoft.com/office/drawing/2014/main" id="{9B3037B7-C669-7B4A-13E6-66A345428BD4}"/>
              </a:ext>
            </a:extLst>
          </p:cNvPr>
          <p:cNvSpPr/>
          <p:nvPr/>
        </p:nvSpPr>
        <p:spPr>
          <a:xfrm>
            <a:off x="7556183" y="2183011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s-EC" sz="1850" noProof="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Próximos Pasos</a:t>
            </a:r>
            <a:endParaRPr lang="es-EC" sz="1850" noProof="0" dirty="0"/>
          </a:p>
        </p:txBody>
      </p:sp>
      <p:sp>
        <p:nvSpPr>
          <p:cNvPr id="28" name="Shape 8">
            <a:extLst>
              <a:ext uri="{FF2B5EF4-FFF2-40B4-BE49-F238E27FC236}">
                <a16:creationId xmlns:a16="http://schemas.microsoft.com/office/drawing/2014/main" id="{D9F7652B-A785-57E8-966F-3A1BF209C683}"/>
              </a:ext>
            </a:extLst>
          </p:cNvPr>
          <p:cNvSpPr/>
          <p:nvPr/>
        </p:nvSpPr>
        <p:spPr>
          <a:xfrm>
            <a:off x="7556183" y="2663547"/>
            <a:ext cx="6369248" cy="1170980"/>
          </a:xfrm>
          <a:prstGeom prst="roundRect">
            <a:avLst>
              <a:gd name="adj" fmla="val 9371"/>
            </a:avLst>
          </a:prstGeom>
          <a:solidFill>
            <a:srgbClr val="292C32"/>
          </a:solidFill>
          <a:ln w="22860">
            <a:solidFill>
              <a:srgbClr val="61646A"/>
            </a:solidFill>
            <a:prstDash val="solid"/>
          </a:ln>
        </p:spPr>
        <p:txBody>
          <a:bodyPr/>
          <a:lstStyle/>
          <a:p>
            <a:endParaRPr lang="es-EC" noProof="0" dirty="0"/>
          </a:p>
        </p:txBody>
      </p:sp>
      <p:sp>
        <p:nvSpPr>
          <p:cNvPr id="30" name="Shape 9">
            <a:extLst>
              <a:ext uri="{FF2B5EF4-FFF2-40B4-BE49-F238E27FC236}">
                <a16:creationId xmlns:a16="http://schemas.microsoft.com/office/drawing/2014/main" id="{1C7F8761-144B-DCCD-A2E0-DA2A29CEF5F3}"/>
              </a:ext>
            </a:extLst>
          </p:cNvPr>
          <p:cNvSpPr/>
          <p:nvPr/>
        </p:nvSpPr>
        <p:spPr>
          <a:xfrm>
            <a:off x="7533323" y="2663547"/>
            <a:ext cx="91440" cy="1170980"/>
          </a:xfrm>
          <a:prstGeom prst="roundRect">
            <a:avLst>
              <a:gd name="adj" fmla="val 31395"/>
            </a:avLst>
          </a:prstGeom>
          <a:solidFill>
            <a:srgbClr val="FF9797"/>
          </a:solidFill>
          <a:ln/>
        </p:spPr>
        <p:txBody>
          <a:bodyPr/>
          <a:lstStyle/>
          <a:p>
            <a:endParaRPr lang="es-EC" noProof="0" dirty="0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A7819AE7-B6F1-B5C7-CA56-ABF49D4D335E}"/>
              </a:ext>
            </a:extLst>
          </p:cNvPr>
          <p:cNvSpPr/>
          <p:nvPr/>
        </p:nvSpPr>
        <p:spPr>
          <a:xfrm>
            <a:off x="7838956" y="2877741"/>
            <a:ext cx="2392323" cy="298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s-EC" sz="1600" b="1" noProof="0" dirty="0">
                <a:solidFill>
                  <a:srgbClr val="FFFFFF"/>
                </a:solidFill>
                <a:latin typeface="Aptos"/>
              </a:rPr>
              <a:t>Escalamiento</a:t>
            </a:r>
            <a:endParaRPr lang="es-EC" sz="1850" noProof="0" dirty="0"/>
          </a:p>
        </p:txBody>
      </p:sp>
      <p:sp>
        <p:nvSpPr>
          <p:cNvPr id="34" name="Text 11">
            <a:extLst>
              <a:ext uri="{FF2B5EF4-FFF2-40B4-BE49-F238E27FC236}">
                <a16:creationId xmlns:a16="http://schemas.microsoft.com/office/drawing/2014/main" id="{3D564FC7-1DD3-47C0-42A9-540DA8EC355A}"/>
              </a:ext>
            </a:extLst>
          </p:cNvPr>
          <p:cNvSpPr/>
          <p:nvPr/>
        </p:nvSpPr>
        <p:spPr>
          <a:xfrm>
            <a:off x="7838956" y="3338155"/>
            <a:ext cx="5872282" cy="282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s-EC" sz="1400" noProof="0" dirty="0">
                <a:solidFill>
                  <a:srgbClr val="D2D2D2"/>
                </a:solidFill>
                <a:latin typeface="Aptos"/>
              </a:rPr>
              <a:t>Integrar el sistema con procesos reales de compras e inventario.</a:t>
            </a:r>
            <a:endParaRPr lang="es-EC" sz="1500" noProof="0" dirty="0"/>
          </a:p>
        </p:txBody>
      </p:sp>
      <p:sp>
        <p:nvSpPr>
          <p:cNvPr id="36" name="Shape 12">
            <a:extLst>
              <a:ext uri="{FF2B5EF4-FFF2-40B4-BE49-F238E27FC236}">
                <a16:creationId xmlns:a16="http://schemas.microsoft.com/office/drawing/2014/main" id="{3D9F3644-0250-7EBD-EE58-BE9A924C8509}"/>
              </a:ext>
            </a:extLst>
          </p:cNvPr>
          <p:cNvSpPr/>
          <p:nvPr/>
        </p:nvSpPr>
        <p:spPr>
          <a:xfrm>
            <a:off x="7556183" y="3995976"/>
            <a:ext cx="6369248" cy="1170980"/>
          </a:xfrm>
          <a:prstGeom prst="roundRect">
            <a:avLst>
              <a:gd name="adj" fmla="val 9371"/>
            </a:avLst>
          </a:prstGeom>
          <a:solidFill>
            <a:srgbClr val="292C32"/>
          </a:solidFill>
          <a:ln w="22860">
            <a:solidFill>
              <a:srgbClr val="61646A"/>
            </a:solidFill>
            <a:prstDash val="solid"/>
          </a:ln>
        </p:spPr>
        <p:txBody>
          <a:bodyPr/>
          <a:lstStyle/>
          <a:p>
            <a:endParaRPr lang="es-EC" noProof="0" dirty="0"/>
          </a:p>
        </p:txBody>
      </p:sp>
      <p:sp>
        <p:nvSpPr>
          <p:cNvPr id="38" name="Shape 13">
            <a:extLst>
              <a:ext uri="{FF2B5EF4-FFF2-40B4-BE49-F238E27FC236}">
                <a16:creationId xmlns:a16="http://schemas.microsoft.com/office/drawing/2014/main" id="{F785A636-17A6-7313-F175-EF31682110B4}"/>
              </a:ext>
            </a:extLst>
          </p:cNvPr>
          <p:cNvSpPr/>
          <p:nvPr/>
        </p:nvSpPr>
        <p:spPr>
          <a:xfrm>
            <a:off x="7533323" y="3995976"/>
            <a:ext cx="91440" cy="1170980"/>
          </a:xfrm>
          <a:prstGeom prst="roundRect">
            <a:avLst>
              <a:gd name="adj" fmla="val 31395"/>
            </a:avLst>
          </a:prstGeom>
          <a:solidFill>
            <a:srgbClr val="FF9797"/>
          </a:solidFill>
          <a:ln/>
        </p:spPr>
        <p:txBody>
          <a:bodyPr/>
          <a:lstStyle/>
          <a:p>
            <a:endParaRPr lang="es-EC" noProof="0" dirty="0"/>
          </a:p>
        </p:txBody>
      </p:sp>
      <p:sp>
        <p:nvSpPr>
          <p:cNvPr id="40" name="Text 14">
            <a:extLst>
              <a:ext uri="{FF2B5EF4-FFF2-40B4-BE49-F238E27FC236}">
                <a16:creationId xmlns:a16="http://schemas.microsoft.com/office/drawing/2014/main" id="{61592BB7-F6C7-B307-E270-A0699DF85EBF}"/>
              </a:ext>
            </a:extLst>
          </p:cNvPr>
          <p:cNvSpPr/>
          <p:nvPr/>
        </p:nvSpPr>
        <p:spPr>
          <a:xfrm>
            <a:off x="7838956" y="4210169"/>
            <a:ext cx="2392323" cy="298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s-EC" sz="1600" b="1" noProof="0" dirty="0">
                <a:solidFill>
                  <a:srgbClr val="FFFFFF"/>
                </a:solidFill>
                <a:latin typeface="Aptos"/>
              </a:rPr>
              <a:t>Mejora Continua</a:t>
            </a:r>
            <a:endParaRPr lang="es-EC" sz="1850" noProof="0" dirty="0"/>
          </a:p>
        </p:txBody>
      </p:sp>
      <p:sp>
        <p:nvSpPr>
          <p:cNvPr id="42" name="Text 15">
            <a:extLst>
              <a:ext uri="{FF2B5EF4-FFF2-40B4-BE49-F238E27FC236}">
                <a16:creationId xmlns:a16="http://schemas.microsoft.com/office/drawing/2014/main" id="{5B4174BF-06BC-0196-BDAF-65D2D4F45FFD}"/>
              </a:ext>
            </a:extLst>
          </p:cNvPr>
          <p:cNvSpPr/>
          <p:nvPr/>
        </p:nvSpPr>
        <p:spPr>
          <a:xfrm>
            <a:off x="7838956" y="4670584"/>
            <a:ext cx="5872282" cy="282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s-EC" sz="1400" noProof="0" dirty="0">
                <a:solidFill>
                  <a:srgbClr val="D2D2D2"/>
                </a:solidFill>
                <a:latin typeface="Aptos"/>
              </a:rPr>
              <a:t>Ampliar el Kardex, incorporar variables externas y monitorear desempeño.</a:t>
            </a:r>
            <a:endParaRPr lang="es-EC" sz="1500" noProof="0" dirty="0"/>
          </a:p>
        </p:txBody>
      </p:sp>
      <p:sp>
        <p:nvSpPr>
          <p:cNvPr id="44" name="Shape 16">
            <a:extLst>
              <a:ext uri="{FF2B5EF4-FFF2-40B4-BE49-F238E27FC236}">
                <a16:creationId xmlns:a16="http://schemas.microsoft.com/office/drawing/2014/main" id="{F43A846F-6098-3338-8E95-5A1D8A907C25}"/>
              </a:ext>
            </a:extLst>
          </p:cNvPr>
          <p:cNvSpPr/>
          <p:nvPr/>
        </p:nvSpPr>
        <p:spPr>
          <a:xfrm>
            <a:off x="7556183" y="5328404"/>
            <a:ext cx="6369248" cy="1170980"/>
          </a:xfrm>
          <a:prstGeom prst="roundRect">
            <a:avLst>
              <a:gd name="adj" fmla="val 9371"/>
            </a:avLst>
          </a:prstGeom>
          <a:solidFill>
            <a:srgbClr val="292C32"/>
          </a:solidFill>
          <a:ln w="22860">
            <a:solidFill>
              <a:srgbClr val="61646A"/>
            </a:solidFill>
            <a:prstDash val="solid"/>
          </a:ln>
        </p:spPr>
        <p:txBody>
          <a:bodyPr/>
          <a:lstStyle/>
          <a:p>
            <a:endParaRPr lang="es-EC" noProof="0" dirty="0"/>
          </a:p>
        </p:txBody>
      </p:sp>
      <p:sp>
        <p:nvSpPr>
          <p:cNvPr id="46" name="Shape 17">
            <a:extLst>
              <a:ext uri="{FF2B5EF4-FFF2-40B4-BE49-F238E27FC236}">
                <a16:creationId xmlns:a16="http://schemas.microsoft.com/office/drawing/2014/main" id="{EA8C8AEF-EB62-B051-425B-CEF57DD8E66C}"/>
              </a:ext>
            </a:extLst>
          </p:cNvPr>
          <p:cNvSpPr/>
          <p:nvPr/>
        </p:nvSpPr>
        <p:spPr>
          <a:xfrm>
            <a:off x="7533323" y="5328404"/>
            <a:ext cx="91440" cy="1170980"/>
          </a:xfrm>
          <a:prstGeom prst="roundRect">
            <a:avLst>
              <a:gd name="adj" fmla="val 31395"/>
            </a:avLst>
          </a:prstGeom>
          <a:solidFill>
            <a:srgbClr val="FF9797"/>
          </a:solidFill>
          <a:ln/>
        </p:spPr>
        <p:txBody>
          <a:bodyPr/>
          <a:lstStyle/>
          <a:p>
            <a:endParaRPr lang="es-EC" noProof="0" dirty="0"/>
          </a:p>
        </p:txBody>
      </p:sp>
      <p:sp>
        <p:nvSpPr>
          <p:cNvPr id="48" name="Text 18">
            <a:extLst>
              <a:ext uri="{FF2B5EF4-FFF2-40B4-BE49-F238E27FC236}">
                <a16:creationId xmlns:a16="http://schemas.microsoft.com/office/drawing/2014/main" id="{3E77E478-7665-7B68-4C0F-843B2F28E24B}"/>
              </a:ext>
            </a:extLst>
          </p:cNvPr>
          <p:cNvSpPr/>
          <p:nvPr/>
        </p:nvSpPr>
        <p:spPr>
          <a:xfrm>
            <a:off x="7838955" y="5456082"/>
            <a:ext cx="2392323" cy="298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s-EC" sz="1600" b="1" noProof="0" dirty="0">
                <a:solidFill>
                  <a:srgbClr val="FFFFFF"/>
                </a:solidFill>
                <a:latin typeface="Aptos"/>
              </a:rPr>
              <a:t>Documentación</a:t>
            </a:r>
            <a:endParaRPr lang="es-EC" sz="1850" noProof="0" dirty="0"/>
          </a:p>
        </p:txBody>
      </p:sp>
      <p:sp>
        <p:nvSpPr>
          <p:cNvPr id="50" name="Text 19">
            <a:extLst>
              <a:ext uri="{FF2B5EF4-FFF2-40B4-BE49-F238E27FC236}">
                <a16:creationId xmlns:a16="http://schemas.microsoft.com/office/drawing/2014/main" id="{F1BF6B72-E91B-607C-E9C7-166E922ED42E}"/>
              </a:ext>
            </a:extLst>
          </p:cNvPr>
          <p:cNvSpPr/>
          <p:nvPr/>
        </p:nvSpPr>
        <p:spPr>
          <a:xfrm>
            <a:off x="7804666" y="5841564"/>
            <a:ext cx="5872282" cy="477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s-EC" sz="1400" noProof="0" dirty="0">
                <a:solidFill>
                  <a:srgbClr val="D2D2D2"/>
                </a:solidFill>
                <a:latin typeface="Aptos"/>
              </a:rPr>
              <a:t>Consolidar repositorio, anexos técnicos y guía de usuario para reproducibilidad.</a:t>
            </a:r>
            <a:endParaRPr lang="es-EC" sz="1500" noProof="0" dirty="0"/>
          </a:p>
        </p:txBody>
      </p:sp>
      <p:sp>
        <p:nvSpPr>
          <p:cNvPr id="52" name="Shape 20">
            <a:extLst>
              <a:ext uri="{FF2B5EF4-FFF2-40B4-BE49-F238E27FC236}">
                <a16:creationId xmlns:a16="http://schemas.microsoft.com/office/drawing/2014/main" id="{326BFFC8-D32A-69B7-BFBF-61A3CF010BF4}"/>
              </a:ext>
            </a:extLst>
          </p:cNvPr>
          <p:cNvSpPr/>
          <p:nvPr/>
        </p:nvSpPr>
        <p:spPr>
          <a:xfrm>
            <a:off x="712351" y="6958115"/>
            <a:ext cx="13205579" cy="31433"/>
          </a:xfrm>
          <a:prstGeom prst="rect">
            <a:avLst/>
          </a:prstGeom>
          <a:solidFill>
            <a:srgbClr val="D4D4D1">
              <a:alpha val="50000"/>
            </a:srgbClr>
          </a:solidFill>
          <a:ln/>
        </p:spPr>
        <p:txBody>
          <a:bodyPr/>
          <a:lstStyle/>
          <a:p>
            <a:endParaRPr lang="es-EC" noProof="0" dirty="0"/>
          </a:p>
        </p:txBody>
      </p:sp>
      <p:sp>
        <p:nvSpPr>
          <p:cNvPr id="54" name="Text 21">
            <a:extLst>
              <a:ext uri="{FF2B5EF4-FFF2-40B4-BE49-F238E27FC236}">
                <a16:creationId xmlns:a16="http://schemas.microsoft.com/office/drawing/2014/main" id="{D6B6B08E-816A-81A4-45B4-5B66E9A68C1A}"/>
              </a:ext>
            </a:extLst>
          </p:cNvPr>
          <p:cNvSpPr/>
          <p:nvPr/>
        </p:nvSpPr>
        <p:spPr>
          <a:xfrm>
            <a:off x="712351" y="7171015"/>
            <a:ext cx="13205579" cy="282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s-EC" sz="1100" noProof="0" dirty="0">
                <a:solidFill>
                  <a:srgbClr val="D2D2D2"/>
                </a:solidFill>
                <a:latin typeface="Aptos"/>
              </a:rPr>
              <a:t>Universidad de Las Américas · Maestría en Inteligencia Artificial Aplicada · 2026</a:t>
            </a:r>
            <a:endParaRPr lang="es-EC" sz="1500" noProof="0" dirty="0"/>
          </a:p>
        </p:txBody>
      </p:sp>
    </p:spTree>
    <p:extLst>
      <p:ext uri="{BB962C8B-B14F-4D97-AF65-F5344CB8AC3E}">
        <p14:creationId xmlns:p14="http://schemas.microsoft.com/office/powerpoint/2010/main" val="1144323529"/>
      </p:ext>
    </p:extLst>
  </p:cSld>
  <p:clrMapOvr>
    <a:masterClrMapping/>
  </p:clrMapOvr>
</p:sld>
</file>

<file path=ppt/theme/theme1.xml><?xml version="1.0" encoding="utf-8"?>
<a:theme xmlns:a="http://schemas.openxmlformats.org/drawingml/2006/main" name="PortalVTI">
  <a:themeElements>
    <a:clrScheme name="PortalVTI">
      <a:dk1>
        <a:sysClr val="windowText" lastClr="000000"/>
      </a:dk1>
      <a:lt1>
        <a:sysClr val="window" lastClr="FFFFFF"/>
      </a:lt1>
      <a:dk2>
        <a:srgbClr val="051618"/>
      </a:dk2>
      <a:lt2>
        <a:srgbClr val="E8E8DF"/>
      </a:lt2>
      <a:accent1>
        <a:srgbClr val="2D714C"/>
      </a:accent1>
      <a:accent2>
        <a:srgbClr val="1F7985"/>
      </a:accent2>
      <a:accent3>
        <a:srgbClr val="0D6756"/>
      </a:accent3>
      <a:accent4>
        <a:srgbClr val="40945E"/>
      </a:accent4>
      <a:accent5>
        <a:srgbClr val="389896"/>
      </a:accent5>
      <a:accent6>
        <a:srgbClr val="64924A"/>
      </a:accent6>
      <a:hlink>
        <a:srgbClr val="1F855C"/>
      </a:hlink>
      <a:folHlink>
        <a:srgbClr val="227390"/>
      </a:folHlink>
    </a:clrScheme>
    <a:fontScheme name="PortalVTI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Portal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rtalVTI" id="{E3A4BB4D-5227-4A6D-99D3-DBAB0FE4C68F}" vid="{BE515EFD-5A7A-4BFE-BE06-A21DB8499CD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908</Words>
  <Application>Microsoft Office PowerPoint</Application>
  <PresentationFormat>Personalizado</PresentationFormat>
  <Paragraphs>170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20" baseType="lpstr">
      <vt:lpstr>Aptos</vt:lpstr>
      <vt:lpstr>Trade Gothic Next Cond</vt:lpstr>
      <vt:lpstr>Arial</vt:lpstr>
      <vt:lpstr>Trade Gothic Next Light</vt:lpstr>
      <vt:lpstr>Roboto</vt:lpstr>
      <vt:lpstr>IBM Plex Sans Medium</vt:lpstr>
      <vt:lpstr>Calibri</vt:lpstr>
      <vt:lpstr>PortalVTI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Marco Galarza</dc:creator>
  <cp:lastModifiedBy>(Estudiante) Juan Pablo Lopez Cox</cp:lastModifiedBy>
  <cp:revision>67</cp:revision>
  <dcterms:created xsi:type="dcterms:W3CDTF">2026-04-08T14:58:25Z</dcterms:created>
  <dcterms:modified xsi:type="dcterms:W3CDTF">2026-05-11T02:46:04Z</dcterms:modified>
</cp:coreProperties>
</file>